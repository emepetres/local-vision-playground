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harts/chart1.xml" ContentType="application/vnd.openxmlformats-officedocument.drawingml.chart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tags/tag3.xml" ContentType="application/vnd.openxmlformats-officedocument.presentationml.tags+xml"/>
  <Override PartName="/ppt/notesSlides/notesSlide5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229" r:id="rId1"/>
    <p:sldMasterId id="2147484310" r:id="rId2"/>
  </p:sldMasterIdLst>
  <p:notesMasterIdLst>
    <p:notesMasterId r:id="rId72"/>
  </p:notesMasterIdLst>
  <p:handoutMasterIdLst>
    <p:handoutMasterId r:id="rId73"/>
  </p:handoutMasterIdLst>
  <p:sldIdLst>
    <p:sldId id="1543" r:id="rId3"/>
    <p:sldId id="1482" r:id="rId4"/>
    <p:sldId id="1488" r:id="rId5"/>
    <p:sldId id="1544" r:id="rId6"/>
    <p:sldId id="1545" r:id="rId7"/>
    <p:sldId id="1546" r:id="rId8"/>
    <p:sldId id="1547" r:id="rId9"/>
    <p:sldId id="1548" r:id="rId10"/>
    <p:sldId id="1549" r:id="rId11"/>
    <p:sldId id="1550" r:id="rId12"/>
    <p:sldId id="1551" r:id="rId13"/>
    <p:sldId id="1552" r:id="rId14"/>
    <p:sldId id="1553" r:id="rId15"/>
    <p:sldId id="1554" r:id="rId16"/>
    <p:sldId id="1555" r:id="rId17"/>
    <p:sldId id="1556" r:id="rId18"/>
    <p:sldId id="1557" r:id="rId19"/>
    <p:sldId id="1558" r:id="rId20"/>
    <p:sldId id="1559" r:id="rId21"/>
    <p:sldId id="1560" r:id="rId22"/>
    <p:sldId id="1561" r:id="rId23"/>
    <p:sldId id="1562" r:id="rId24"/>
    <p:sldId id="1563" r:id="rId25"/>
    <p:sldId id="1564" r:id="rId26"/>
    <p:sldId id="1565" r:id="rId27"/>
    <p:sldId id="1566" r:id="rId28"/>
    <p:sldId id="1567" r:id="rId29"/>
    <p:sldId id="1568" r:id="rId30"/>
    <p:sldId id="1569" r:id="rId31"/>
    <p:sldId id="1570" r:id="rId32"/>
    <p:sldId id="1571" r:id="rId33"/>
    <p:sldId id="1572" r:id="rId34"/>
    <p:sldId id="1573" r:id="rId35"/>
    <p:sldId id="1574" r:id="rId36"/>
    <p:sldId id="1575" r:id="rId37"/>
    <p:sldId id="1576" r:id="rId38"/>
    <p:sldId id="1577" r:id="rId39"/>
    <p:sldId id="1578" r:id="rId40"/>
    <p:sldId id="1579" r:id="rId41"/>
    <p:sldId id="1580" r:id="rId42"/>
    <p:sldId id="1581" r:id="rId43"/>
    <p:sldId id="1582" r:id="rId44"/>
    <p:sldId id="1583" r:id="rId45"/>
    <p:sldId id="1584" r:id="rId46"/>
    <p:sldId id="1585" r:id="rId47"/>
    <p:sldId id="1586" r:id="rId48"/>
    <p:sldId id="1587" r:id="rId49"/>
    <p:sldId id="1588" r:id="rId50"/>
    <p:sldId id="1589" r:id="rId51"/>
    <p:sldId id="1590" r:id="rId52"/>
    <p:sldId id="1591" r:id="rId53"/>
    <p:sldId id="1592" r:id="rId54"/>
    <p:sldId id="1593" r:id="rId55"/>
    <p:sldId id="1594" r:id="rId56"/>
    <p:sldId id="1595" r:id="rId57"/>
    <p:sldId id="1596" r:id="rId58"/>
    <p:sldId id="1597" r:id="rId59"/>
    <p:sldId id="1598" r:id="rId60"/>
    <p:sldId id="1599" r:id="rId61"/>
    <p:sldId id="1600" r:id="rId62"/>
    <p:sldId id="1601" r:id="rId63"/>
    <p:sldId id="1602" r:id="rId64"/>
    <p:sldId id="1603" r:id="rId65"/>
    <p:sldId id="1604" r:id="rId66"/>
    <p:sldId id="1605" r:id="rId67"/>
    <p:sldId id="1606" r:id="rId68"/>
    <p:sldId id="1607" r:id="rId69"/>
    <p:sldId id="1608" r:id="rId70"/>
    <p:sldId id="1542" r:id="rId71"/>
  </p:sldIdLst>
  <p:sldSz cx="12436475" cy="6994525"/>
  <p:notesSz cx="6858000" cy="9144000"/>
  <p:custDataLst>
    <p:tags r:id="rId74"/>
  </p:custDataLst>
  <p:defaultTextStyle>
    <a:defPPr>
      <a:defRPr lang="en-US"/>
    </a:defPPr>
    <a:lvl1pPr marL="0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66371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32742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99113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65484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331856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98226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64597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730969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2" name="Author" initials="A" lastIdx="0" clrIdx="1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A1E2"/>
    <a:srgbClr val="05E600"/>
    <a:srgbClr val="26FF21"/>
    <a:srgbClr val="21FF66"/>
    <a:srgbClr val="001344"/>
    <a:srgbClr val="E3C038"/>
    <a:srgbClr val="0078D7"/>
    <a:srgbClr val="000000"/>
    <a:srgbClr val="FFFFFF"/>
    <a:srgbClr val="592C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382" autoAdjust="0"/>
    <p:restoredTop sz="69347" autoAdjust="0"/>
  </p:normalViewPr>
  <p:slideViewPr>
    <p:cSldViewPr snapToGrid="0">
      <p:cViewPr varScale="1">
        <p:scale>
          <a:sx n="64" d="100"/>
          <a:sy n="64" d="100"/>
        </p:scale>
        <p:origin x="807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3" d="100"/>
          <a:sy n="103" d="100"/>
        </p:scale>
        <p:origin x="3832" y="17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74" Type="http://schemas.openxmlformats.org/officeDocument/2006/relationships/tags" Target="tags/tag1.xml"/><Relationship Id="rId79" Type="http://schemas.openxmlformats.org/officeDocument/2006/relationships/tableStyles" Target="tableStyles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viewProps" Target="view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notesMaster" Target="notesMasters/notesMaster1.xml"/><Relationship Id="rId80" Type="http://schemas.microsoft.com/office/2016/11/relationships/changesInfo" Target="changesInfos/changesInfo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handoutMaster" Target="handoutMasters/handoutMaster1.xml"/><Relationship Id="rId78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presProps" Target="presProps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d Rodríguez" userId="c2398672056875bc" providerId="LiveId" clId="{A26C1584-1D7D-5036-BC5E-3A41FB6067DA}"/>
    <pc:docChg chg="undo custSel modSld">
      <pc:chgData name="David Rodríguez" userId="c2398672056875bc" providerId="LiveId" clId="{A26C1584-1D7D-5036-BC5E-3A41FB6067DA}" dt="2026-09-14T18:40:59.609" v="19" actId="1076"/>
      <pc:docMkLst>
        <pc:docMk/>
      </pc:docMkLst>
      <pc:sldChg chg="addSp delSp modSp mod">
        <pc:chgData name="David Rodríguez" userId="c2398672056875bc" providerId="LiveId" clId="{A26C1584-1D7D-5036-BC5E-3A41FB6067DA}" dt="2026-09-14T18:40:59.609" v="19" actId="1076"/>
        <pc:sldMkLst>
          <pc:docMk/>
          <pc:sldMk cId="488528458" sldId="1488"/>
        </pc:sldMkLst>
        <pc:spChg chg="add del">
          <ac:chgData name="David Rodríguez" userId="c2398672056875bc" providerId="LiveId" clId="{A26C1584-1D7D-5036-BC5E-3A41FB6067DA}" dt="2026-09-14T18:36:04.164" v="1" actId="22"/>
          <ac:spMkLst>
            <pc:docMk/>
            <pc:sldMk cId="488528458" sldId="1488"/>
            <ac:spMk id="5" creationId="{BB3AEFB9-16C9-7C59-1156-AFDB200FB18B}"/>
          </ac:spMkLst>
        </pc:spChg>
        <pc:picChg chg="mod">
          <ac:chgData name="David Rodríguez" userId="c2398672056875bc" providerId="LiveId" clId="{A26C1584-1D7D-5036-BC5E-3A41FB6067DA}" dt="2026-09-14T18:36:22.738" v="7" actId="167"/>
          <ac:picMkLst>
            <pc:docMk/>
            <pc:sldMk cId="488528458" sldId="1488"/>
            <ac:picMk id="3" creationId="{63FCDA05-6CA0-D8C0-6E38-0739FA7C2B8A}"/>
          </ac:picMkLst>
        </pc:picChg>
        <pc:picChg chg="add mod">
          <ac:chgData name="David Rodríguez" userId="c2398672056875bc" providerId="LiveId" clId="{A26C1584-1D7D-5036-BC5E-3A41FB6067DA}" dt="2026-09-14T18:40:59.609" v="19" actId="1076"/>
          <ac:picMkLst>
            <pc:docMk/>
            <pc:sldMk cId="488528458" sldId="1488"/>
            <ac:picMk id="5" creationId="{F8926D48-3CE7-46C2-8666-728A82E7E007}"/>
          </ac:picMkLst>
        </pc:picChg>
        <pc:picChg chg="add del mod">
          <ac:chgData name="David Rodríguez" userId="c2398672056875bc" providerId="LiveId" clId="{A26C1584-1D7D-5036-BC5E-3A41FB6067DA}" dt="2026-09-14T18:40:53.421" v="15" actId="478"/>
          <ac:picMkLst>
            <pc:docMk/>
            <pc:sldMk cId="488528458" sldId="1488"/>
            <ac:picMk id="6" creationId="{ED58A433-A9D8-2FFC-00FC-657DEBA5FEFA}"/>
          </ac:picMkLst>
        </pc:picChg>
        <pc:picChg chg="mod">
          <ac:chgData name="David Rodríguez" userId="c2398672056875bc" providerId="LiveId" clId="{A26C1584-1D7D-5036-BC5E-3A41FB6067DA}" dt="2026-09-14T18:37:12.379" v="10" actId="14826"/>
          <ac:picMkLst>
            <pc:docMk/>
            <pc:sldMk cId="488528458" sldId="1488"/>
            <ac:picMk id="10" creationId="{E47651E1-6E84-0285-AD57-F85B785AE4FF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tokens/s</c:v>
                </c:pt>
              </c:strCache>
            </c:strRef>
          </c:tx>
          <c:spPr>
            <a:solidFill>
              <a:srgbClr val="0078D4"/>
            </a:solidFill>
          </c:spPr>
          <c:invertIfNegative val="1"/>
          <c:dPt>
            <c:idx val="1"/>
            <c:invertIfNegative val="1"/>
            <c:bubble3D val="0"/>
            <c:spPr>
              <a:solidFill>
                <a:srgbClr val="F2C94C"/>
              </a:solidFill>
            </c:spPr>
            <c:extLst>
              <c:ext xmlns:c16="http://schemas.microsoft.com/office/drawing/2014/chart" uri="{C3380CC4-5D6E-409C-BE32-E72D297353CC}">
                <c16:uniqueId val="{00000001-0B8D-4357-B4DC-E85324D946F0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2000" b="1">
                    <a:solidFill>
                      <a:srgbClr val="001344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CPU, Foundry Local</c:v>
                </c:pt>
                <c:pt idx="1">
                  <c:v>NPU, OpenVINO</c:v>
                </c:pt>
                <c:pt idx="2">
                  <c:v>CPU, OpenVINO</c:v>
                </c:pt>
                <c:pt idx="3">
                  <c:v>Arc iGPU, OpenVINO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11.5</c:v>
                </c:pt>
                <c:pt idx="1">
                  <c:v>21.8</c:v>
                </c:pt>
                <c:pt idx="2">
                  <c:v>27.8</c:v>
                </c:pt>
                <c:pt idx="3">
                  <c:v>56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0B8D-4357-B4DC-E85324D946F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8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>
          <a:solidFill>
            <a:srgbClr val="1B1B1B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>
          <a:xfrm>
            <a:off x="0" y="-11574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>
                <a:latin typeface="Segoe UI" pitchFamily="34" charset="0"/>
              </a:rPr>
              <a:t>Microsoft Connect 2016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8D045D-9A66-44E7-900A-FC6D0BD4E54A}" type="datetime8">
              <a:rPr lang="en-US" smtClean="0">
                <a:latin typeface="Segoe UI" pitchFamily="34" charset="0"/>
              </a:rPr>
              <a:t>9/25/2026 8:03 PM</a:t>
            </a:fld>
            <a:endParaRPr lang="en-US">
              <a:latin typeface="Segoe UI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5795010" cy="3324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398463" defTabSz="914099" eaLnBrk="0" hangingPunct="0"/>
            <a:r>
              <a:rPr lang="en-US" sz="40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3"/>
          </p:nvPr>
        </p:nvSpPr>
        <p:spPr>
          <a:xfrm>
            <a:off x="5783579" y="8685213"/>
            <a:ext cx="1072833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C9E9D6-92A0-482B-A603-C9BA7FFB8190}" type="slidenum">
              <a:rPr lang="en-US" smtClean="0">
                <a:latin typeface="Segoe UI" pitchFamily="34" charset="0"/>
              </a:rPr>
              <a:t>‹#›</a:t>
            </a:fld>
            <a:endParaRPr lang="en-US">
              <a:latin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4595630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Segoe UI" pitchFamily="34" charset="0"/>
              </a:defRPr>
            </a:lvl1pPr>
          </a:lstStyle>
          <a:p>
            <a:r>
              <a:rPr lang="en-US"/>
              <a:t>Microsoft Connect 2016</a:t>
            </a:r>
          </a:p>
        </p:txBody>
      </p:sp>
      <p:sp>
        <p:nvSpPr>
          <p:cNvPr id="9" name="Slide Image Placeholder 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4"/>
          </p:nvPr>
        </p:nvSpPr>
        <p:spPr>
          <a:xfrm>
            <a:off x="0" y="8686800"/>
            <a:ext cx="5920740" cy="3559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marL="571500" indent="0" algn="l">
              <a:defRPr sz="1200"/>
            </a:lvl1pPr>
          </a:lstStyle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38EEC551-8CDA-4EB6-89BB-2A86C9F091C8}" type="datetime8">
              <a:rPr lang="en-US" smtClean="0"/>
              <a:t>9/25/2026 7:17 PM</a:t>
            </a:fld>
            <a:endParaRPr lang="en-US"/>
          </a:p>
        </p:txBody>
      </p:sp>
      <p:sp>
        <p:nvSpPr>
          <p:cNvPr id="12" name="Notes Placeholder 11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5"/>
          </p:nvPr>
        </p:nvSpPr>
        <p:spPr>
          <a:xfrm>
            <a:off x="5909309" y="8685213"/>
            <a:ext cx="947103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B4008EB6-D09E-4580-8CD6-DDB14511944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648265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32742" rtl="0" eaLnBrk="1" latinLnBrk="0" hangingPunct="1">
      <a:lnSpc>
        <a:spcPct val="90000"/>
      </a:lnSpc>
      <a:spcAft>
        <a:spcPts val="340"/>
      </a:spcAft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1pPr>
    <a:lvl2pPr marL="217262" indent="-107956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2pPr>
    <a:lvl3pPr marL="334664" indent="-117403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3pPr>
    <a:lvl4pPr marL="492551" indent="-149789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4pPr>
    <a:lvl5pPr marL="627496" indent="-117403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5pPr>
    <a:lvl6pPr marL="2331856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98226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64597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730969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NOTES</a:t>
            </a:r>
          </a:p>
          <a:p>
            <a:r>
              <a:t>Azure Tour Sevilla 2026. Javier Carnero, Plain Concepts.</a:t>
            </a:r>
          </a:p>
          <a:p>
            <a:r>
              <a:t>Laptop on stage, camera on, work cell on the desk.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6732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SCRIPT</a:t>
            </a:r>
          </a:p>
          <a:p>
            <a:r>
              <a:t>Before anything else, I am switching this laptop to airplane mode.</a:t>
            </a:r>
          </a:p>
          <a:p>
            <a:r>
              <a:t>No Wi-Fi, no cable, no cloud. It stays like this for the whole talk.</a:t>
            </a:r>
          </a:p>
          <a:p>
            <a:endParaRPr/>
          </a:p>
          <a:p>
            <a:r>
              <a:t>NOTES</a:t>
            </a:r>
          </a:p>
          <a:p>
            <a:r>
              <a:t>Switch it on in full view. Leave the airplane icon visible on the projected 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</a:t>
            </a:r>
          </a:p>
          <a:p>
            <a:r>
              <a:t>D1. `uv run observe --camera 0 --variant qwen3-vl-2b-instruct-generic-cpu:2`. Read the sentence it writes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</a:t>
            </a:r>
          </a:p>
          <a:p>
            <a:r>
              <a:t>Backup of D1: a real run from the repo's README, abridged. Show it only if the live run fails.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SCRIPT</a:t>
            </a:r>
          </a:p>
          <a:p>
            <a:r>
              <a:t>That sentence is the whole talk. A model looked at me and wrote about what it saw.</a:t>
            </a:r>
          </a:p>
          <a:p>
            <a:r>
              <a:t>The image went nowhere. What came out was a sentence, and a sentence can travel.</a:t>
            </a:r>
          </a:p>
          <a:p>
            <a:r>
              <a:t>Keep an eye on that sentence. It comes back every few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SCRIPT</a:t>
            </a:r>
          </a:p>
          <a:p>
            <a:r>
              <a:t>You have just seen an agent in production on Microsoft Foundry. Good. Now we unplug the cable.</a:t>
            </a:r>
          </a:p>
          <a:p>
            <a:r>
              <a:t>Most local AI demos end up as a text chat on a laptop. So we assume serious work lives in the cloud.</a:t>
            </a:r>
          </a:p>
          <a:p>
            <a:r>
              <a:t>And we assume the choice is binary: everything in Azure, or everything on your own box.</a:t>
            </a:r>
          </a:p>
          <a:p>
            <a:endParaRPr/>
          </a:p>
          <a:p>
            <a:r>
              <a:t>NOTES</a:t>
            </a:r>
          </a:p>
          <a:p>
            <a:r>
              <a:t>The room's belief, said as theirs. Bridge from the 11:35 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</a:t>
            </a:r>
          </a:p>
          <a:p>
            <a:r>
              <a:t>Plant the question. It closes every section of the body. Do not answer it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</a:t>
            </a:r>
          </a:p>
          <a:p>
            <a:r>
              <a:t>Residency was covered at 10:25. One sentence on GDPR and the works council, then move on.</a:t>
            </a:r>
          </a:p>
          <a:p>
            <a:r>
              <a:t>The third fact is the one that matters for cost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</a:t>
            </a:r>
          </a:p>
          <a:p>
            <a:r>
              <a:t>The green mat is the Zone, the white tray holds the six parts.</a:t>
            </a:r>
          </a:p>
          <a:p>
            <a:r>
              <a:t>The supervisor wants to know three things: a part goes missing, someone works without gloves, something is left on the mat.</a:t>
            </a:r>
          </a:p>
          <a:p>
            <a:r>
              <a:t>Only gloves are live today. The spike, later, says why.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SCRIPT</a:t>
            </a:r>
          </a:p>
          <a:p>
            <a:r>
              <a:t>This is the whole system. Two processes on one laptop.</a:t>
            </a:r>
          </a:p>
          <a:p>
            <a:r>
              <a:t>The first one sees: it turns a camera frame into text. The second one decides and acts.</a:t>
            </a:r>
          </a:p>
          <a:p>
            <a:r>
              <a:t>Between them there is a file. Remember where the dashed line is: the image never crosses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</a:t>
            </a:r>
          </a:p>
          <a:p>
            <a:r>
              <a:t>Every piece is a released version, nothing preview. Agent Framework is on its stable 1.x line.</a:t>
            </a:r>
          </a:p>
          <a:p>
            <a:r>
              <a:t>Qwen3-VL, not Phi-4-multimodal: ADR-0001. Two runtimes: ADR-0012.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SCRIPT</a:t>
            </a:r>
          </a:p>
          <a:p>
            <a:r>
              <a:t>I asked for a model by its alias, and Foundry Local chose the build for my hardware.</a:t>
            </a:r>
          </a:p>
          <a:p>
            <a:r>
              <a:t>It chose one that cannot load, and nothing I could do as a caller fixed it.</a:t>
            </a:r>
          </a:p>
          <a:p>
            <a:r>
              <a:t>The model you ask for is not the model you get. So name the exact Variant. The whole demo rests on that.</a:t>
            </a:r>
          </a:p>
          <a:p>
            <a:endParaRPr/>
          </a:p>
          <a:p>
            <a:r>
              <a:t>NOTES</a:t>
            </a:r>
          </a:p>
          <a:p>
            <a:r>
              <a:t>qwen3.5-0.8b-cuda-gpu:3 on my desktop. The defect is in the published artifact, not in the caller.</a:t>
            </a:r>
          </a:p>
          <a:p>
            <a:r>
              <a:t>Reported as microsoft/foundry-local#1075. If asked: fixed by the publisher five days later, as a new version (:4). Nothing the caller did fixed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SCRIPT</a:t>
            </a:r>
          </a:p>
          <a:p>
            <a:r>
              <a:t>Most of what you will find online is Foundry Local 1.x. This is 2.0, and it changes the shape.</a:t>
            </a:r>
          </a:p>
          <a:p>
            <a:r>
              <a:t>It runs inside my process. The image is a typed object, not a string hidden in a field.</a:t>
            </a:r>
          </a:p>
          <a:p>
            <a:r>
              <a:t>And the last line is the one that matters today: pin the Variant, and it starts in airplane mode.</a:t>
            </a:r>
          </a:p>
          <a:p>
            <a:endParaRPr/>
          </a:p>
          <a:p>
            <a:r>
              <a:t>NOTES</a:t>
            </a:r>
          </a:p>
          <a:p>
            <a:r>
              <a:t>2.0.1 shipped on 1 September. In 1.x the image went as untyped base64 inside extra_body; now it is an ImageItem, bytes plus a codec hint, in every SDK including C#.</a:t>
            </a:r>
          </a:p>
          <a:p>
            <a:r>
              <a:t>Learn still documents 1.2.x, and no first-party sample combines ChatSession with ImageItem. ADR-0004.</a:t>
            </a:r>
          </a:p>
          <a:p>
            <a:r>
              <a:t>Trap if asked: a ChatSession accumulates turns, so we rebuild it for every request.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</a:t>
            </a:r>
          </a:p>
          <a:p>
            <a:r>
              <a:t>D2. `uv run watch --camera 2 --variant qwen3-vl-4b-instruct-int4-sym-gpu`. This is the 4B on the iGPU: "you will see why".</a:t>
            </a:r>
          </a:p>
          <a:p>
            <a:r>
              <a:t>Type "Is there a phone or a cup on the green mat? Answer in one or two sentences." Cup beside the mat first: the "no" says where the cup is, which is the reasoning moment. Then onto the mat.</a:t>
            </a:r>
          </a:p>
          <a:p>
            <a:r>
              <a:t>Then "What is the person doing? Answer in one sentence."</a:t>
            </a:r>
          </a:p>
          <a:p>
            <a:r>
              <a:t>A question takes effect at the next Cadence. Say so rather than waiting in silence.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SCRIPT</a:t>
            </a:r>
          </a:p>
          <a:p>
            <a:r>
              <a:t>Production today runs detectors, trained for a fixed list and retrained when it changes.</a:t>
            </a:r>
          </a:p>
          <a:p>
            <a:r>
              <a:t>Here I typed a new question, with no new model and no data scientist.</a:t>
            </a:r>
          </a:p>
          <a:p>
            <a:r>
              <a:t>That flexibility is the reason to run a VLM at all. It is also why its accuracy must be measured.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SCRIPT</a:t>
            </a:r>
          </a:p>
          <a:p>
            <a:r>
              <a:t>Every question I type ends the same way. Without that bound, a small model keeps talking.</a:t>
            </a:r>
          </a:p>
          <a:p>
            <a:r>
              <a:t>It truncates, it loops, it invents. Bound the answer, and it stays on the photo.</a:t>
            </a:r>
          </a:p>
          <a:p>
            <a:endParaRPr/>
          </a:p>
          <a:p>
            <a:r>
              <a:t>NOTES</a:t>
            </a:r>
          </a:p>
          <a:p>
            <a:r>
              <a:t>The cup question: 13 of 13 photos right, 1.3 to 2.3 s per answer on the 4B iGPU. docs/research/2026-09-24-d2-scene-questions.md.</a:t>
            </a:r>
          </a:p>
          <a:p>
            <a:r>
              <a:t>Discarded, notes only: "Is it safe to solder like this?" answers "No" to every photo, with a lecture on eye protection.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SCRIPT</a:t>
            </a:r>
          </a:p>
          <a:p>
            <a:r>
              <a:t>This laptop has a GPU and an NPU. The catalogue offers this model for the CPU only.</a:t>
            </a:r>
          </a:p>
          <a:p>
            <a:r>
              <a:t>So if you want the accelerators, you build the model yourself.</a:t>
            </a:r>
          </a:p>
          <a:p>
            <a:endParaRPr/>
          </a:p>
          <a:p>
            <a:r>
              <a:t>NOTES</a:t>
            </a:r>
          </a:p>
          <a:p>
            <a:r>
              <a:t>Verified with `foundry model list` on this machine. The catalogue is filtered per device.</a:t>
            </a:r>
          </a:p>
          <a:p>
            <a:r>
              <a:t>The laptop has an Arc 140V iGPU and an Intel AI Boost NPU. Foundry Local's NPU builds here are all chat models, none with vision.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</a:t>
            </a:r>
          </a:p>
          <a:p>
            <a:r>
              <a:t>The recipe verified on this laptop, not a general rule. Two exports with the same recipe: the 2B and the 4B.</a:t>
            </a:r>
          </a:p>
          <a:p>
            <a:r>
              <a:t>It runs once, on the CPU, and needs no NPU. OpenVINO is told its device, so one IR serves CPU, GPU and NPU.</a:t>
            </a:r>
          </a:p>
          <a:p>
            <a:r>
              <a:t>If asked: transformers must stay &gt;=4.57,&lt;5.0; convert.py scrubs a system-wide OpenVINO install that shadows the right one; provenance.json records the recipe beside the IR; CACHE_DIR takes the NPU's first compile from ~32 s to ~2 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SCRIPT</a:t>
            </a:r>
          </a:p>
          <a:p>
            <a:r>
              <a:t>Each weight goes from sixteen bits to four.</a:t>
            </a:r>
          </a:p>
          <a:p>
            <a:r>
              <a:t>One exported file serves the CPU, the GPU and the NPU through OpenVINO.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</a:t>
            </a:r>
          </a:p>
          <a:p>
            <a:r>
              <a:t>Same image, same prompt, from the Benchmark of 2026-09-22. Every OpenVINO row repeats like this, on every engine.</a:t>
            </a:r>
          </a:p>
          <a:p>
            <a:r>
              <a:t>Greedy decoding is the setting most prone to loops. On the spike's checklist prompt, 16 of 32 OpenVINO replies looped against 2 of 32 on Foundry Local.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SCRIPT</a:t>
            </a:r>
          </a:p>
          <a:p>
            <a:r>
              <a:t>Both of these are four bits per weight. So four bits is not the problem. The recipe is.</a:t>
            </a:r>
          </a:p>
          <a:p>
            <a:r>
              <a:t>Ours is the coarsest there is, because the NPU asks for that shape.</a:t>
            </a:r>
          </a:p>
          <a:p>
            <a:r>
              <a:t>And one file serves all three engines, so the GPU and the CPU pay a price only the NPU demands.</a:t>
            </a:r>
          </a:p>
          <a:p>
            <a:endParaRPr/>
          </a:p>
          <a:p>
            <a:r>
              <a:t>NOTES</a:t>
            </a:r>
          </a:p>
          <a:p>
            <a:r>
              <a:t>Foundry Local's build is INT4 too: 1.34 GB for the 2B, block-wise, one scale per 32 weights. docs/research/2026-09-25-int4-quantisation.md.</a:t>
            </a:r>
          </a:p>
          <a:p>
            <a:r>
              <a:t>Ours is the coarsest INT4 there is: channel-wise (group-size -1), symmetric, and no INT8 layers (ratio 1.0; optimum keeps 20% by default). ~1.7 GB, larger and still worse.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</a:t>
            </a:r>
          </a:p>
          <a:p>
            <a:r>
              <a:t>Each one is a ticket in the repo: #72 (GPU and CPU IR), #73 (NPU recipe), #74 (repetition penalty). #75 looks at reaching the iGPU through Foundry Local's own GPU builds.</a:t>
            </a:r>
          </a:p>
          <a:p>
            <a:r>
              <a:t>How AWQ and scale estimation work stays out of the 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SCRIPT</a:t>
            </a:r>
          </a:p>
          <a:p>
            <a:r>
              <a:t>The weights came down once, while I prepared this laptop. Since then, nothing.</a:t>
            </a:r>
          </a:p>
          <a:p>
            <a:r>
              <a:t>Preparing may use the network. Operating may 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</a:t>
            </a:r>
          </a:p>
          <a:p>
            <a:r>
              <a:t>D3, on the 2B and the webcam, each with --ask "What is the person doing? Answer in one sentence."</a:t>
            </a:r>
          </a:p>
          <a:p>
            <a:r>
              <a:t>Same watch, three engines. Only the Variant name changes. Point at the timings as they come 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</a:t>
            </a:r>
          </a:p>
          <a:p>
            <a:r>
              <a:t>Benchmark of 2026-09-22 on this laptop, five runs each. Tokens per second, because the INT4 rows did more work.</a:t>
            </a:r>
          </a:p>
          <a:p>
            <a:r>
              <a:t>The two CPU rows are the same silicon reached two ways.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SCRIPT</a:t>
            </a:r>
          </a:p>
          <a:p>
            <a:r>
              <a:t>I came in expecting the NPU to win. By tokens per second, it does not, on this model.</a:t>
            </a:r>
          </a:p>
          <a:p>
            <a:r>
              <a:t>That was my mistake. I only found out after building a second runtime to reach it.</a:t>
            </a:r>
          </a:p>
          <a:p>
            <a:r>
              <a:t>I was asking the wrong question of the wrong engine.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SCRIPT</a:t>
            </a:r>
          </a:p>
          <a:p>
            <a:r>
              <a:t>A station does not sprint. It watches the same cell for eight hours, then does it again.</a:t>
            </a:r>
          </a:p>
          <a:p>
            <a:r>
              <a:t>For that job, peak speed is not the whole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</a:t>
            </a:r>
          </a:p>
          <a:p>
            <a:r>
              <a:t>All from the Benchmark record. For contrast: the OpenVINO CPU row goes from 9.1 s cold to 4.6 s warm; the iGPU loads in 6.2 s.</a:t>
            </a:r>
          </a:p>
          <a:p>
            <a:r>
              <a:t>Earlier spike, a different model (Qwen2.5-VL-3B INT4, issue #38): NPU 6.0 s to first token against 23.7 s on the CPU.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SCRIPT</a:t>
            </a:r>
          </a:p>
          <a:p>
            <a:r>
              <a:t>Intel has measured where this is going. On Panther Lake, the next generation, the NPU does 2.8 times the work per watt of the GPU.</a:t>
            </a:r>
          </a:p>
          <a:p>
            <a:r>
              <a:t>Different chip, different model, not my app. But that is the direction.</a:t>
            </a:r>
          </a:p>
          <a:p>
            <a:r>
              <a:t>I did not measure energy for this app. Last year, in a talk with Intel, we measured it on this very laptop.</a:t>
            </a:r>
          </a:p>
          <a:p>
            <a:r>
              <a:t>Then a driver update made that impossible, and it still is. So you get Intel's figure, labelled as Intel's.</a:t>
            </a:r>
          </a:p>
          <a:p>
            <a:endParaRPr/>
          </a:p>
          <a:p>
            <a:r>
              <a:t>NOTES</a:t>
            </a:r>
          </a:p>
          <a:p>
            <a:r>
              <a:t>Intel's own lab: Gemma 4 E2B on Core Ultra 7 355, power measured with SocWatch. There the NPU was also faster than the GPU.</a:t>
            </a:r>
          </a:p>
          <a:p>
            <a:r>
              <a:t>Next generation, different model, not this app. Say all three.</a:t>
            </a:r>
          </a:p>
          <a:p>
            <a:r>
              <a:t>For this chip generation Intel's claim is qualitative: sustained AI workloads while remaining energy-efficient.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SCRIPT</a:t>
            </a:r>
          </a:p>
          <a:p>
            <a:r>
              <a:t>The Agent needs more than prose. It needs a shape it can test.</a:t>
            </a:r>
          </a:p>
          <a:p>
            <a:r>
              <a:t>I first asked the vision model to call a tool with that shape. It never did, not once in eleven.</a:t>
            </a:r>
          </a:p>
          <a:p>
            <a:r>
              <a:t>So I stopped forcing it. I ask for the shape in the prompt, and parse what comes back.</a:t>
            </a:r>
          </a:p>
          <a:p>
            <a:endParaRPr/>
          </a:p>
          <a:p>
            <a:r>
              <a:t>NOTES</a:t>
            </a:r>
          </a:p>
          <a:p>
            <a:r>
              <a:t>Spike of 2026-09-15. The model never honoured a forced tool call when the request carried an image.</a:t>
            </a:r>
          </a:p>
          <a:p>
            <a:r>
              <a:t>ADR-0011 records the mechanism that did not survive.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</a:t>
            </a:r>
          </a:p>
          <a:p>
            <a:r>
              <a:t>The `described` prompt, cut to its key sentences. The full text carries a worked example and "If nothing is there, reply with []".</a:t>
            </a:r>
          </a:p>
          <a:p>
            <a:r>
              <a:t>It names this mat and this tray. That is a debt, recorded in ADR-0016; a --scene flag is the way out.</a:t>
            </a:r>
          </a:p>
          <a:p>
            <a:r>
              <a:t>Structured output gets 256 tokens, prose 128, temperature 0. At 128, only 12 of 32 4B lists fitted.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SCRIPT</a:t>
            </a:r>
          </a:p>
          <a:p>
            <a:r>
              <a:t>A question is flexible, and you saw that in the demo. But a Trigger cannot rest on it.</a:t>
            </a:r>
          </a:p>
          <a:p>
            <a:r>
              <a:t>Asked in prose about hands, the model found bare hands in photos that had no hands.</a:t>
            </a:r>
          </a:p>
          <a:p>
            <a:r>
              <a:t>Asked for a list, it made no false Trigger at all. Asking is for people. A Trigger needs the shape.</a:t>
            </a:r>
          </a:p>
          <a:p>
            <a:endParaRPr/>
          </a:p>
          <a:p>
            <a:r>
              <a:t>NOTES</a:t>
            </a:r>
          </a:p>
          <a:p>
            <a:r>
              <a:t>Both on the 4B iGPU, the same photos. Prose: 7 of 13 right overall. docs/research/2026-09-24-d2-scene-questions.md.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SCRIPT</a:t>
            </a:r>
          </a:p>
          <a:p>
            <a:r>
              <a:t>This is everything that crosses from vision to the Agent. One line of JSON per Cadence, in a file.</a:t>
            </a:r>
          </a:p>
          <a:p>
            <a:r>
              <a:t>No socket, no shared endpoint. Each process loads its own model.</a:t>
            </a:r>
          </a:p>
          <a:p>
            <a:r>
              <a:t>You can open this file and read everything the Agent ever received. I will, in the demo.</a:t>
            </a:r>
          </a:p>
          <a:p>
            <a:endParaRPr/>
          </a:p>
          <a:p>
            <a:r>
              <a:t>NOTES</a:t>
            </a:r>
          </a:p>
          <a:p>
            <a:r>
              <a:t>One line of the contract fixture, wrapped for the slide. Both sides test against this file. ADR-0014.</a:t>
            </a:r>
          </a:p>
          <a:p>
            <a:r>
              <a:t>Outcome is exactly one of: objects, no_shape with its reason, failed with its error. The first line of each file describes the Watch.</a:t>
            </a:r>
          </a:p>
          <a:p>
            <a:r>
              <a:t>The file is recreated at every Watch start. Never a Frame, never a path to one, even under --keep-frames.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SCRIPT</a:t>
            </a:r>
          </a:p>
          <a:p>
            <a:r>
              <a:t>The scenario lives in a text file. What the tray holds, what may lie on the mat, the names the model uses for each.</a:t>
            </a:r>
          </a:p>
          <a:p>
            <a:r>
              <a:t>And which Triggers are on. Today, one: working without gloves, confirmed twice.</a:t>
            </a:r>
          </a:p>
          <a:p>
            <a:r>
              <a:t>Change the scenario, and you edit this file. You do not touch the code.</a:t>
            </a:r>
          </a:p>
          <a:p>
            <a:endParaRPr/>
          </a:p>
          <a:p>
            <a:r>
              <a:t>NOTES</a:t>
            </a:r>
          </a:p>
          <a:p>
            <a:r>
              <a:t>Excerpt. The file also lists the six parts of the Tray and the Zone, each with the synonyms the model uses: "solder spool", "spool", "solder wire".</a:t>
            </a:r>
          </a:p>
          <a:p>
            <a:r>
              <a:t>A plain "hand" counts as bare unless a gloved hand is named in the same Observation: live, the 4B says "hand", almost never "bare hand".</a:t>
            </a:r>
          </a:p>
          <a:p>
            <a:r>
              <a:t>missing_part is off (refuted), foreign_object deferred (#70). An unknown Trigger or an N below one is refused at start.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</a:t>
            </a:r>
          </a:p>
          <a:p>
            <a:r>
              <a:t>A small model is wrong on single Frames. N consecutive is what keeps its noise off a worker's record.</a:t>
            </a:r>
          </a:p>
          <a:p>
            <a:r>
              <a:t>A failed inference or a reply in prose is never read as evidence either 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SCRIPT</a:t>
            </a:r>
          </a:p>
          <a:p>
            <a:r>
              <a:t>This is why the demo runs the 4B. The 2B could not see the work cell.</a:t>
            </a:r>
          </a:p>
          <a:p>
            <a:r>
              <a:t>And I planned the demo on a part going missing from the tray. No local model this size sees that.</a:t>
            </a:r>
          </a:p>
          <a:p>
            <a:r>
              <a:t>So the Trigger is working without gloves. I measured it before I promised it on this stage.</a:t>
            </a:r>
          </a:p>
          <a:p>
            <a:endParaRPr/>
          </a:p>
          <a:p>
            <a:r>
              <a:t>NOTES</a:t>
            </a:r>
          </a:p>
          <a:p>
            <a:r>
              <a:t>Spike #58: 32 photos, three Variants, four prompts. docs/research/2026-09-24-work-cell-spike.md.</a:t>
            </a:r>
          </a:p>
          <a:p>
            <a:r>
              <a:t>The 2B never says "bare hand" on OpenVINO. The 4B, with the described prompt: 8 of 9 bare hands, 5 of 5 mixed, 0 false.</a:t>
            </a:r>
          </a:p>
          <a:p>
            <a:r>
              <a:t>A missing part: at best 2 of 6 caught, with 9 to 16 false "missing" on 16 photos. The brush and the tweezers are missed systematically.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</a:t>
            </a:r>
          </a:p>
          <a:p>
            <a:r>
              <a:t>The Watch and the Agent never share an Execution Provider by default. The Watch: 4B on the iGPU, ~8 s per structured Frame, a 10 s Cadence.</a:t>
            </a:r>
          </a:p>
          <a:p>
            <a:r>
              <a:t>The Agent: qwen2.5-1.5b-instruct-generic-cpu:4. It is consulted only when a Trigger fires, never per Observation.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SCRIPT</a:t>
            </a:r>
          </a:p>
          <a:p>
            <a:r>
              <a:t>Agent Framework speaks IChatClient. Foundry Local 2.0 does not give you one in .NET.</a:t>
            </a:r>
          </a:p>
          <a:p>
            <a:r>
              <a:t>Bruno Capuano solved this for 1.x with an adapter, and I followed his pattern.</a:t>
            </a:r>
          </a:p>
          <a:p>
            <a:r>
              <a:t>But 1.x sends telemetry you cannot switch off, and it loses tool calls. So I wrote the same bridge for 2.0.1.</a:t>
            </a:r>
          </a:p>
          <a:p>
            <a:endParaRPr/>
          </a:p>
          <a:p>
            <a:r>
              <a:t>NOTES</a:t>
            </a:r>
          </a:p>
          <a:p>
            <a:r>
              <a:t>ADR-0015. Bruno's ElBruno.MAF.FoundryLocal set the pattern: an IChatClient bridge where no first-party one exists. Credit him.</a:t>
            </a:r>
          </a:p>
          <a:p>
            <a:r>
              <a:t>Why we wrote our own: his pins Foundry Local 1.2.1, has no telemetry switch, and drops tool calls when streaming.</a:t>
            </a:r>
          </a:p>
          <a:p>
            <a:r>
              <a:t>Ours: tools map to Foundry Local's tool definitions and back to function-call contents, a fresh ChatSession per call, telemetry off. It is the only class that knows Foundry Local.</a:t>
            </a:r>
          </a:p>
          <a:p>
            <a:r>
              <a:t>In 2.0.1, GetChatClientAsync returns an OpenAI client that implements no IChatClient.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SCRIPT</a:t>
            </a:r>
          </a:p>
          <a:p>
            <a:r>
              <a:t>The model that sees is not the model that acts.</a:t>
            </a:r>
          </a:p>
          <a:p>
            <a:r>
              <a:t>The vision model runs on the GPU. The model that calls tools reliably only did it on the CPU.</a:t>
            </a:r>
          </a:p>
          <a:p>
            <a:r>
              <a:t>So each one runs where it works, and the laptop uses two engines at once.</a:t>
            </a:r>
          </a:p>
          <a:p>
            <a:endParaRPr/>
          </a:p>
          <a:p>
            <a:r>
              <a:t>NOTES</a:t>
            </a:r>
          </a:p>
          <a:p>
            <a:r>
              <a:t>docs/benchmarks/tool-call-reliability-zenbook-20260925-114415.md. The GPU build called only log_incident, the NPU build only notify_supervisor.</a:t>
            </a:r>
          </a:p>
          <a:p>
            <a:r>
              <a:t>qwen3-1.7b on the CPU: empty replies. qwen3-4b: prose reasoning, 50 to 100 s. ~15 to 25 s per Incident on the winner.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SCRIPT</a:t>
            </a:r>
          </a:p>
          <a:p>
            <a:r>
              <a:t>I wrote the Agent careful instructions. Every version made it worse.</a:t>
            </a:r>
          </a:p>
          <a:p>
            <a:r>
              <a:t>With no system prompt at all, it called both tools every time. Measure before you polish a prompt.</a:t>
            </a:r>
          </a:p>
          <a:p>
            <a:endParaRPr/>
          </a:p>
          <a:p>
            <a:r>
              <a:t>NOTES</a:t>
            </a:r>
          </a:p>
          <a:p>
            <a:r>
              <a:t>Every system prompt tried scored 0 to 8 of 10. No instructions at all: 10 of 10. The tool descriptions carry the intent.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</a:t>
            </a:r>
          </a:p>
          <a:p>
            <a:r>
              <a:t>D5, three panes: the Agent, the Watch with --structured --emit, and the emitted file.</a:t>
            </a:r>
          </a:p>
          <a:p>
            <a:r>
              <a:t>Gloves off, bare hands on the mat. no gloves 1/2, then the Incident, the toast and the log. ~40 s: narrate over the file, never wait in silence.</a:t>
            </a:r>
          </a:p>
          <a:p>
            <a:r>
              <a:t>Fallback: the recording.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</a:t>
            </a:r>
          </a:p>
          <a:p>
            <a:r>
              <a:t>Point at agent_acted. If the model does not call both tools, throws or takes over 60 s, a template sentence goes through the same two Actions: agent_acted false, with the reason.</a:t>
            </a:r>
          </a:p>
          <a:p>
            <a:r>
              <a:t>An Incident is never lost, and the model's failure is visible, not hidden. Gloves back on: two Cadences, then "Incident cleared", no model turn.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SCRIPT</a:t>
            </a:r>
          </a:p>
          <a:p>
            <a:r>
              <a:t>The Agent cannot leak a picture it was never given. That is not a promise. It is the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SCRIPT</a:t>
            </a:r>
          </a:p>
          <a:p>
            <a:r>
              <a:t>Six things I did not know when I started, all measured on this machine.</a:t>
            </a:r>
          </a:p>
          <a:p>
            <a:r>
              <a:t>None of them is on a spec sheet. Each one cost me a wrong assumption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SCRIPT</a:t>
            </a:r>
          </a:p>
          <a:p>
            <a:r>
              <a:t>Three questions. If any answer pushes you local, the image stays where it was taken.</a:t>
            </a:r>
          </a:p>
          <a:p>
            <a:r>
              <a:t>And only text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</a:t>
            </a:r>
          </a:p>
          <a:p>
            <a:r>
              <a:t>10 s divided by a 2.3 s median, rounded down. An upper bound, one model serving the Feeds in series, for this Hardware Profile only.</a:t>
            </a:r>
          </a:p>
          <a:p>
            <a:r>
              <a:t>With the 4B the demo runs, ~8 s per structured Frame: one camera.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</a:t>
            </a:r>
          </a:p>
          <a:p>
            <a:r>
              <a:t>Costs: order-of-magnitude model by Fora Soft on AWS list prices, for a continuously watched camera. Not an invoice.</a:t>
            </a:r>
          </a:p>
          <a:p>
            <a:r>
              <a:t>Continuous load is the shape a per-call API bills worst. For bursty load, the cloud is cheaper and simpler.</a:t>
            </a:r>
          </a:p>
          <a:p>
            <a:r>
              <a:t>Edge boxes from Advantech, OnLogic, ASRock Industrial, Lenovo, Neousys, Vecow run OpenVINO GenAI. Their Series 1 and 2 NPUs are 11 to 13 TOPS against this laptop's 48; Series 3 edge parts reach 50. Laptop figures do not transfer. Measure the box.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SCRIPT</a:t>
            </a:r>
          </a:p>
          <a:p>
            <a:r>
              <a:t>So the question was never local or cloud. It was what crosses the wire.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SCRIPT</a:t>
            </a:r>
          </a:p>
          <a:p>
            <a:r>
              <a:t>Want to see all your stations from head office? Send the sentences to a Foundry agent.</a:t>
            </a:r>
          </a:p>
          <a:p>
            <a:r>
              <a:t>Every frame stays on the machine that took it. Nothing in this design has to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</a:t>
            </a:r>
          </a:p>
          <a:p>
            <a:r>
              <a:t>Payoff. Point at the icon that has been on screen since the second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</a:t>
            </a:r>
          </a:p>
          <a:p>
            <a:r>
              <a:t>Everything shown is in the repo, with the benchmarks and the decisions behind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A7B7BD-FC21-58FC-9807-DE44008B9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CAE951-9E39-1F60-ADC7-71E3656F8D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D80B99-9888-6308-9BC9-9C1F380C4F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27D3E7-FCC8-3248-6D29-FB1D57606B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9179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lkin">
    <p:bg>
      <p:bgPr>
        <a:solidFill>
          <a:srgbClr val="0013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hidden="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9230" y="6240963"/>
            <a:ext cx="1278510" cy="274137"/>
          </a:xfrm>
          <a:prstGeom prst="rect">
            <a:avLst/>
          </a:prstGeom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0CC4F9EC-AA9C-E14D-2EBC-36966366CE7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/>
          <a:srcRect/>
          <a:stretch/>
        </p:blipFill>
        <p:spPr bwMode="auto">
          <a:xfrm>
            <a:off x="2591002" y="699434"/>
            <a:ext cx="7254470" cy="5595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5962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llpaper">
    <p:bg>
      <p:bgPr>
        <a:solidFill>
          <a:srgbClr val="0013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light, night&#10;&#10;Description automatically generated">
            <a:extLst>
              <a:ext uri="{FF2B5EF4-FFF2-40B4-BE49-F238E27FC236}">
                <a16:creationId xmlns:a16="http://schemas.microsoft.com/office/drawing/2014/main" id="{350A32DE-FA8B-44C2-9362-2EA32D26F7C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447" t="2999" b="8315"/>
          <a:stretch/>
        </p:blipFill>
        <p:spPr>
          <a:xfrm>
            <a:off x="-1" y="0"/>
            <a:ext cx="12436474" cy="6994525"/>
          </a:xfrm>
          <a:prstGeom prst="rect">
            <a:avLst/>
          </a:prstGeom>
        </p:spPr>
      </p:pic>
      <p:pic>
        <p:nvPicPr>
          <p:cNvPr id="9" name="Imagen 8" descr="Logotipo&#10;&#10;El contenido generado por IA puede ser incorrecto.">
            <a:extLst>
              <a:ext uri="{FF2B5EF4-FFF2-40B4-BE49-F238E27FC236}">
                <a16:creationId xmlns:a16="http://schemas.microsoft.com/office/drawing/2014/main" id="{9282E408-20E2-C5F7-9D14-50BE3A42FED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25945" y="496466"/>
            <a:ext cx="7784581" cy="6001591"/>
          </a:xfrm>
          <a:prstGeom prst="rect">
            <a:avLst/>
          </a:prstGeom>
        </p:spPr>
      </p:pic>
      <p:pic>
        <p:nvPicPr>
          <p:cNvPr id="19" name="Picture 18" hidden="1"/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9230" y="6240963"/>
            <a:ext cx="1278510" cy="27413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A3BCD95-CA59-4583-90F7-5AF0268DA679}"/>
              </a:ext>
            </a:extLst>
          </p:cNvPr>
          <p:cNvSpPr txBox="1"/>
          <p:nvPr userDrawn="1"/>
        </p:nvSpPr>
        <p:spPr>
          <a:xfrm>
            <a:off x="10029963" y="592172"/>
            <a:ext cx="1845890" cy="517065"/>
          </a:xfrm>
          <a:prstGeom prst="rect">
            <a:avLst/>
          </a:prstGeom>
          <a:solidFill>
            <a:srgbClr val="E3C038"/>
          </a:solidFill>
        </p:spPr>
        <p:txBody>
          <a:bodyPr wrap="none" lIns="182880" tIns="146304" rIns="182880" bIns="146304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s-ES" sz="1600" dirty="0">
                <a:solidFill>
                  <a:srgbClr val="001344"/>
                </a:solidFill>
                <a:latin typeface="+mn-lt"/>
              </a:rPr>
              <a:t>#AzureTour2026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F89267-C2BA-4FB8-9CAB-25571FE51B13}"/>
              </a:ext>
            </a:extLst>
          </p:cNvPr>
          <p:cNvSpPr txBox="1"/>
          <p:nvPr userDrawn="1"/>
        </p:nvSpPr>
        <p:spPr>
          <a:xfrm>
            <a:off x="350837" y="647572"/>
            <a:ext cx="67876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10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400" kern="1200" dirty="0">
                <a:solidFill>
                  <a:schemeClr val="bg1"/>
                </a:solidFill>
                <a:latin typeface="+mn-lt"/>
                <a:ea typeface="Segoe UI" pitchFamily="34" charset="0"/>
                <a:cs typeface="Segoe UI" pitchFamily="34" charset="0"/>
              </a:rPr>
              <a:t>26 de </a:t>
            </a:r>
            <a:r>
              <a:rPr lang="en-US" sz="2400" kern="1200" dirty="0" err="1">
                <a:solidFill>
                  <a:schemeClr val="bg1"/>
                </a:solidFill>
                <a:latin typeface="+mn-lt"/>
                <a:ea typeface="Segoe UI" pitchFamily="34" charset="0"/>
                <a:cs typeface="Segoe UI" pitchFamily="34" charset="0"/>
              </a:rPr>
              <a:t>Septiembre</a:t>
            </a:r>
            <a:r>
              <a:rPr lang="en-US" sz="2400" kern="1200" dirty="0">
                <a:solidFill>
                  <a:schemeClr val="bg1"/>
                </a:solidFill>
                <a:latin typeface="+mn-lt"/>
                <a:ea typeface="Segoe UI" pitchFamily="34" charset="0"/>
                <a:cs typeface="Segoe UI" pitchFamily="34" charset="0"/>
              </a:rPr>
              <a:t> de 2026</a:t>
            </a:r>
          </a:p>
        </p:txBody>
      </p:sp>
    </p:spTree>
    <p:extLst>
      <p:ext uri="{BB962C8B-B14F-4D97-AF65-F5344CB8AC3E}">
        <p14:creationId xmlns:p14="http://schemas.microsoft.com/office/powerpoint/2010/main" val="25616389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Wallpaper">
    <p:bg>
      <p:bgPr>
        <a:solidFill>
          <a:srgbClr val="0013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light, night&#10;&#10;Description automatically generated">
            <a:extLst>
              <a:ext uri="{FF2B5EF4-FFF2-40B4-BE49-F238E27FC236}">
                <a16:creationId xmlns:a16="http://schemas.microsoft.com/office/drawing/2014/main" id="{350A32DE-FA8B-44C2-9362-2EA32D26F7C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447" t="2999" b="8315"/>
          <a:stretch/>
        </p:blipFill>
        <p:spPr>
          <a:xfrm>
            <a:off x="-1" y="0"/>
            <a:ext cx="12436474" cy="6994525"/>
          </a:xfrm>
          <a:prstGeom prst="rect">
            <a:avLst/>
          </a:prstGeom>
        </p:spPr>
      </p:pic>
      <p:pic>
        <p:nvPicPr>
          <p:cNvPr id="19" name="Picture 18" hidden="1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9230" y="6240963"/>
            <a:ext cx="1278510" cy="274137"/>
          </a:xfrm>
          <a:prstGeom prst="rect">
            <a:avLst/>
          </a:prstGeom>
        </p:spPr>
      </p:pic>
      <p:sp>
        <p:nvSpPr>
          <p:cNvPr id="2" name="TextBox 4">
            <a:extLst>
              <a:ext uri="{FF2B5EF4-FFF2-40B4-BE49-F238E27FC236}">
                <a16:creationId xmlns:a16="http://schemas.microsoft.com/office/drawing/2014/main" id="{BE9539F8-5CB8-0AF5-5FE8-9CB9D4C69B1A}"/>
              </a:ext>
            </a:extLst>
          </p:cNvPr>
          <p:cNvSpPr txBox="1"/>
          <p:nvPr userDrawn="1"/>
        </p:nvSpPr>
        <p:spPr>
          <a:xfrm>
            <a:off x="10029963" y="592172"/>
            <a:ext cx="1845890" cy="517065"/>
          </a:xfrm>
          <a:prstGeom prst="rect">
            <a:avLst/>
          </a:prstGeom>
          <a:solidFill>
            <a:srgbClr val="E3C038"/>
          </a:solidFill>
        </p:spPr>
        <p:txBody>
          <a:bodyPr wrap="none" lIns="182880" tIns="146304" rIns="182880" bIns="146304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s-ES" sz="1600" dirty="0">
                <a:solidFill>
                  <a:srgbClr val="001344"/>
                </a:solidFill>
                <a:latin typeface="+mn-lt"/>
              </a:rPr>
              <a:t>#AzureTour2026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AB3254D-2ADA-C87B-D326-DFE641583B0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2301545" y="477653"/>
            <a:ext cx="7833383" cy="6039216"/>
          </a:xfrm>
          <a:prstGeom prst="rect">
            <a:avLst/>
          </a:prstGeom>
        </p:spPr>
      </p:pic>
      <p:sp>
        <p:nvSpPr>
          <p:cNvPr id="5" name="TextBox 6">
            <a:extLst>
              <a:ext uri="{FF2B5EF4-FFF2-40B4-BE49-F238E27FC236}">
                <a16:creationId xmlns:a16="http://schemas.microsoft.com/office/drawing/2014/main" id="{7DE70592-69D1-86A9-EE83-452B534C559C}"/>
              </a:ext>
            </a:extLst>
          </p:cNvPr>
          <p:cNvSpPr txBox="1"/>
          <p:nvPr userDrawn="1"/>
        </p:nvSpPr>
        <p:spPr>
          <a:xfrm>
            <a:off x="350837" y="647572"/>
            <a:ext cx="67876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10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400" kern="1200" dirty="0">
                <a:solidFill>
                  <a:schemeClr val="bg1"/>
                </a:solidFill>
                <a:latin typeface="+mn-lt"/>
                <a:ea typeface="Segoe UI" pitchFamily="34" charset="0"/>
                <a:cs typeface="Segoe UI" pitchFamily="34" charset="0"/>
              </a:rPr>
              <a:t>26 de </a:t>
            </a:r>
            <a:r>
              <a:rPr lang="en-US" sz="2400" kern="1200" dirty="0" err="1">
                <a:solidFill>
                  <a:schemeClr val="bg1"/>
                </a:solidFill>
                <a:latin typeface="+mn-lt"/>
                <a:ea typeface="Segoe UI" pitchFamily="34" charset="0"/>
                <a:cs typeface="Segoe UI" pitchFamily="34" charset="0"/>
              </a:rPr>
              <a:t>Septiembre</a:t>
            </a:r>
            <a:r>
              <a:rPr lang="en-US" sz="2400" kern="1200" dirty="0">
                <a:solidFill>
                  <a:schemeClr val="bg1"/>
                </a:solidFill>
                <a:latin typeface="+mn-lt"/>
                <a:ea typeface="Segoe UI" pitchFamily="34" charset="0"/>
                <a:cs typeface="Segoe UI" pitchFamily="34" charset="0"/>
              </a:rPr>
              <a:t> de 2026</a:t>
            </a:r>
          </a:p>
          <a:p>
            <a:pPr marL="0" marR="0" lvl="0" indent="0" algn="l" defTabSz="91410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400" kern="1200" dirty="0">
                <a:solidFill>
                  <a:schemeClr val="bg1"/>
                </a:solidFill>
                <a:latin typeface="+mn-lt"/>
                <a:ea typeface="Segoe UI" pitchFamily="34" charset="0"/>
                <a:cs typeface="Segoe UI" pitchFamily="34" charset="0"/>
              </a:rPr>
              <a:t>Sevilla</a:t>
            </a:r>
          </a:p>
        </p:txBody>
      </p:sp>
    </p:spTree>
    <p:extLst>
      <p:ext uri="{BB962C8B-B14F-4D97-AF65-F5344CB8AC3E}">
        <p14:creationId xmlns:p14="http://schemas.microsoft.com/office/powerpoint/2010/main" val="12929192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Wallpaper">
    <p:bg>
      <p:bgPr>
        <a:solidFill>
          <a:srgbClr val="0013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light, night&#10;&#10;Description automatically generated">
            <a:extLst>
              <a:ext uri="{FF2B5EF4-FFF2-40B4-BE49-F238E27FC236}">
                <a16:creationId xmlns:a16="http://schemas.microsoft.com/office/drawing/2014/main" id="{350A32DE-FA8B-44C2-9362-2EA32D26F7C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447" t="2999" b="8315"/>
          <a:stretch/>
        </p:blipFill>
        <p:spPr>
          <a:xfrm>
            <a:off x="-1" y="0"/>
            <a:ext cx="12436474" cy="6994525"/>
          </a:xfrm>
          <a:prstGeom prst="rect">
            <a:avLst/>
          </a:prstGeom>
        </p:spPr>
      </p:pic>
      <p:pic>
        <p:nvPicPr>
          <p:cNvPr id="19" name="Picture 18" hidden="1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9230" y="6240963"/>
            <a:ext cx="1278510" cy="274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524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light, night&#10;&#10;Description automatically generated">
            <a:extLst>
              <a:ext uri="{FF2B5EF4-FFF2-40B4-BE49-F238E27FC236}">
                <a16:creationId xmlns:a16="http://schemas.microsoft.com/office/drawing/2014/main" id="{451AE0CE-0A83-4434-B2D0-8A01F6591EE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447" t="2999" b="8315"/>
          <a:stretch/>
        </p:blipFill>
        <p:spPr>
          <a:xfrm>
            <a:off x="-1" y="0"/>
            <a:ext cx="12436474" cy="6994525"/>
          </a:xfrm>
          <a:prstGeom prst="rect">
            <a:avLst/>
          </a:prstGeom>
        </p:spPr>
      </p:pic>
      <p:pic>
        <p:nvPicPr>
          <p:cNvPr id="16" name="Picture 15" hidden="1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459230" y="6240963"/>
            <a:ext cx="1278510" cy="274137"/>
          </a:xfrm>
          <a:prstGeom prst="rect">
            <a:avLst/>
          </a:prstGeom>
        </p:spPr>
      </p:pic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554038" y="2125678"/>
            <a:ext cx="10998199" cy="1828786"/>
          </a:xfrm>
          <a:noFill/>
        </p:spPr>
        <p:txBody>
          <a:bodyPr lIns="146304" tIns="91440" rIns="146304" bIns="91440" anchor="t" anchorCtr="0"/>
          <a:lstStyle>
            <a:lvl1pPr>
              <a:defRPr sz="5400" spc="-100" baseline="0">
                <a:gradFill>
                  <a:gsLst>
                    <a:gs pos="100000">
                      <a:schemeClr val="tx2"/>
                    </a:gs>
                    <a:gs pos="0">
                      <a:schemeClr val="tx2"/>
                    </a:gs>
                  </a:gsLst>
                  <a:lin ang="5400000" scaled="0"/>
                </a:gradFill>
                <a:latin typeface="+mn-lt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54038" y="3955786"/>
            <a:ext cx="10998198" cy="1828007"/>
          </a:xfr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n-lt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77D4634-E12D-4F3C-8848-E41C183EBE33}"/>
              </a:ext>
            </a:extLst>
          </p:cNvPr>
          <p:cNvGrpSpPr/>
          <p:nvPr userDrawn="1"/>
        </p:nvGrpSpPr>
        <p:grpSpPr>
          <a:xfrm>
            <a:off x="1" y="6240463"/>
            <a:ext cx="12436474" cy="754062"/>
            <a:chOff x="1" y="6240463"/>
            <a:chExt cx="12436474" cy="754062"/>
          </a:xfrm>
        </p:grpSpPr>
        <p:sp>
          <p:nvSpPr>
            <p:cNvPr id="8" name="Rectangle 7"/>
            <p:cNvSpPr/>
            <p:nvPr userDrawn="1"/>
          </p:nvSpPr>
          <p:spPr bwMode="auto">
            <a:xfrm>
              <a:off x="1" y="6240463"/>
              <a:ext cx="12436474" cy="754062"/>
            </a:xfrm>
            <a:prstGeom prst="rect">
              <a:avLst/>
            </a:prstGeom>
            <a:solidFill>
              <a:schemeClr val="tx1"/>
            </a:solidFill>
            <a:ln>
              <a:noFill/>
              <a:headEnd type="none" w="med" len="med"/>
              <a:tailEnd type="none" w="med" len="med"/>
            </a:ln>
            <a:effectLst>
              <a:outerShdw blurRad="101600" dist="12700" dir="16200000" rotWithShape="0">
                <a:prstClr val="black">
                  <a:alpha val="30000"/>
                </a:prst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2400" dirty="0">
                  <a:solidFill>
                    <a:schemeClr val="bg1"/>
                  </a:solidFill>
                  <a:latin typeface="+mn-lt"/>
                  <a:ea typeface="Segoe UI" pitchFamily="34" charset="0"/>
                  <a:cs typeface="Segoe UI" pitchFamily="34" charset="0"/>
                </a:rPr>
                <a:t>#GlobalAzure</a:t>
              </a:r>
            </a:p>
          </p:txBody>
        </p:sp>
        <p:pic>
          <p:nvPicPr>
            <p:cNvPr id="3074" name="Picture 2">
              <a:extLst>
                <a:ext uri="{FF2B5EF4-FFF2-40B4-BE49-F238E27FC236}">
                  <a16:creationId xmlns:a16="http://schemas.microsoft.com/office/drawing/2014/main" id="{661022FB-F1AC-4578-B53E-77613F1EC93F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4"/>
            <a:srcRect/>
            <a:stretch/>
          </p:blipFill>
          <p:spPr bwMode="auto">
            <a:xfrm>
              <a:off x="556178" y="6324593"/>
              <a:ext cx="759372" cy="5858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TextBox 4">
            <a:extLst>
              <a:ext uri="{FF2B5EF4-FFF2-40B4-BE49-F238E27FC236}">
                <a16:creationId xmlns:a16="http://schemas.microsoft.com/office/drawing/2014/main" id="{226290A4-4EB5-2048-3227-4A599DCD11C4}"/>
              </a:ext>
            </a:extLst>
          </p:cNvPr>
          <p:cNvSpPr txBox="1"/>
          <p:nvPr userDrawn="1"/>
        </p:nvSpPr>
        <p:spPr>
          <a:xfrm>
            <a:off x="9418637" y="373062"/>
            <a:ext cx="1845890" cy="517065"/>
          </a:xfrm>
          <a:prstGeom prst="rect">
            <a:avLst/>
          </a:prstGeom>
          <a:solidFill>
            <a:srgbClr val="E3C038"/>
          </a:solidFill>
        </p:spPr>
        <p:txBody>
          <a:bodyPr wrap="none" lIns="182880" tIns="146304" rIns="182880" bIns="146304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s-ES" sz="1600" dirty="0">
                <a:solidFill>
                  <a:srgbClr val="001344"/>
                </a:solidFill>
                <a:latin typeface="+mn-lt"/>
              </a:rPr>
              <a:t>#AzureTour2026</a:t>
            </a:r>
          </a:p>
        </p:txBody>
      </p:sp>
    </p:spTree>
    <p:extLst>
      <p:ext uri="{BB962C8B-B14F-4D97-AF65-F5344CB8AC3E}">
        <p14:creationId xmlns:p14="http://schemas.microsoft.com/office/powerpoint/2010/main" val="16850104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84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picture containing light, night&#10;&#10;Description automatically generated">
            <a:extLst>
              <a:ext uri="{FF2B5EF4-FFF2-40B4-BE49-F238E27FC236}">
                <a16:creationId xmlns:a16="http://schemas.microsoft.com/office/drawing/2014/main" id="{1493354E-841D-4EEB-B957-978CA312102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447" t="2999" b="8315"/>
          <a:stretch/>
        </p:blipFill>
        <p:spPr>
          <a:xfrm>
            <a:off x="-1" y="0"/>
            <a:ext cx="12436474" cy="6994525"/>
          </a:xfrm>
          <a:prstGeom prst="rect">
            <a:avLst/>
          </a:prstGeom>
        </p:spPr>
      </p:pic>
      <p:pic>
        <p:nvPicPr>
          <p:cNvPr id="16" name="Picture 15" hidden="1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459230" y="6240963"/>
            <a:ext cx="1278510" cy="274137"/>
          </a:xfrm>
          <a:prstGeom prst="rect">
            <a:avLst/>
          </a:prstGeom>
        </p:spPr>
      </p:pic>
      <p:sp>
        <p:nvSpPr>
          <p:cNvPr id="20" name="Title 1"/>
          <p:cNvSpPr>
            <a:spLocks noGrp="1"/>
          </p:cNvSpPr>
          <p:nvPr>
            <p:ph type="title" hasCustomPrompt="1"/>
          </p:nvPr>
        </p:nvSpPr>
        <p:spPr>
          <a:xfrm>
            <a:off x="554038" y="2125678"/>
            <a:ext cx="11074399" cy="1828786"/>
          </a:xfrm>
          <a:noFill/>
        </p:spPr>
        <p:txBody>
          <a:bodyPr lIns="146304" tIns="91440" rIns="146304" bIns="91440" anchor="t" anchorCtr="0"/>
          <a:lstStyle>
            <a:lvl1pPr>
              <a:defRPr sz="5400" spc="-100" baseline="0">
                <a:gradFill>
                  <a:gsLst>
                    <a:gs pos="100000">
                      <a:schemeClr val="tx2"/>
                    </a:gs>
                    <a:gs pos="0">
                      <a:schemeClr val="tx2"/>
                    </a:gs>
                  </a:gsLst>
                  <a:lin ang="5400000" scaled="0"/>
                </a:gradFill>
                <a:latin typeface="+mn-lt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1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54037" y="3955786"/>
            <a:ext cx="11074399" cy="1828007"/>
          </a:xfr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n-lt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398FAFD-BC2F-4CB8-BEB1-0D3206027F43}"/>
              </a:ext>
            </a:extLst>
          </p:cNvPr>
          <p:cNvGrpSpPr/>
          <p:nvPr userDrawn="1"/>
        </p:nvGrpSpPr>
        <p:grpSpPr>
          <a:xfrm>
            <a:off x="1" y="487"/>
            <a:ext cx="12436474" cy="664537"/>
            <a:chOff x="1" y="487"/>
            <a:chExt cx="12436474" cy="664537"/>
          </a:xfrm>
        </p:grpSpPr>
        <p:sp>
          <p:nvSpPr>
            <p:cNvPr id="10" name="Rectangle 9"/>
            <p:cNvSpPr/>
            <p:nvPr userDrawn="1"/>
          </p:nvSpPr>
          <p:spPr bwMode="auto">
            <a:xfrm>
              <a:off x="1" y="487"/>
              <a:ext cx="12436474" cy="664537"/>
            </a:xfrm>
            <a:prstGeom prst="rect">
              <a:avLst/>
            </a:prstGeom>
            <a:solidFill>
              <a:srgbClr val="FFFFFF"/>
            </a:solidFill>
            <a:ln>
              <a:noFill/>
              <a:headEnd type="none" w="med" len="med"/>
              <a:tailEnd type="none" w="med" len="med"/>
            </a:ln>
            <a:effectLst>
              <a:outerShdw blurRad="25400" dist="12700" dir="5400000" algn="t" rotWithShape="0">
                <a:prstClr val="black">
                  <a:alpha val="18000"/>
                </a:prst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79285" tIns="143428" rIns="179285" bIns="14342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r" defTabSz="91410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kern="1200">
                  <a:solidFill>
                    <a:schemeClr val="bg1"/>
                  </a:solidFill>
                  <a:latin typeface="+mn-lt"/>
                  <a:ea typeface="Segoe UI" pitchFamily="34" charset="0"/>
                  <a:cs typeface="Segoe UI" pitchFamily="34" charset="0"/>
                </a:rPr>
                <a:t>#</a:t>
              </a:r>
              <a:r>
                <a:rPr lang="en-US" sz="2000" kern="1200" err="1">
                  <a:solidFill>
                    <a:schemeClr val="bg1"/>
                  </a:solidFill>
                  <a:latin typeface="+mn-lt"/>
                  <a:ea typeface="Segoe UI" pitchFamily="34" charset="0"/>
                  <a:cs typeface="Segoe UI" pitchFamily="34" charset="0"/>
                </a:rPr>
                <a:t>GlobalAzure</a:t>
              </a:r>
              <a:endParaRPr lang="en-US" sz="2000" kern="1200">
                <a:solidFill>
                  <a:schemeClr val="bg1"/>
                </a:solidFill>
                <a:latin typeface="+mn-lt"/>
                <a:ea typeface="Segoe UI" pitchFamily="34" charset="0"/>
                <a:cs typeface="Segoe UI" pitchFamily="34" charset="0"/>
              </a:endParaRPr>
            </a:p>
          </p:txBody>
        </p:sp>
        <p:pic>
          <p:nvPicPr>
            <p:cNvPr id="7" name="Picture 2">
              <a:extLst>
                <a:ext uri="{FF2B5EF4-FFF2-40B4-BE49-F238E27FC236}">
                  <a16:creationId xmlns:a16="http://schemas.microsoft.com/office/drawing/2014/main" id="{2B7C705D-D751-4036-809B-5677A0C9481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4"/>
            <a:srcRect/>
            <a:stretch/>
          </p:blipFill>
          <p:spPr bwMode="auto">
            <a:xfrm>
              <a:off x="556177" y="39853"/>
              <a:ext cx="759373" cy="5858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" name="TextBox 4">
            <a:extLst>
              <a:ext uri="{FF2B5EF4-FFF2-40B4-BE49-F238E27FC236}">
                <a16:creationId xmlns:a16="http://schemas.microsoft.com/office/drawing/2014/main" id="{74804866-470A-FA15-B9EE-D2C6FAC29BA3}"/>
              </a:ext>
            </a:extLst>
          </p:cNvPr>
          <p:cNvSpPr txBox="1"/>
          <p:nvPr userDrawn="1"/>
        </p:nvSpPr>
        <p:spPr>
          <a:xfrm>
            <a:off x="9540749" y="6011862"/>
            <a:ext cx="1845890" cy="517065"/>
          </a:xfrm>
          <a:prstGeom prst="rect">
            <a:avLst/>
          </a:prstGeom>
          <a:solidFill>
            <a:srgbClr val="E3C038"/>
          </a:solidFill>
        </p:spPr>
        <p:txBody>
          <a:bodyPr wrap="none" lIns="182880" tIns="146304" rIns="182880" bIns="146304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s-ES" sz="1600" dirty="0">
                <a:solidFill>
                  <a:srgbClr val="001344"/>
                </a:solidFill>
                <a:latin typeface="+mn-lt"/>
              </a:rPr>
              <a:t>#AzureTour2026</a:t>
            </a:r>
          </a:p>
        </p:txBody>
      </p:sp>
    </p:spTree>
    <p:extLst>
      <p:ext uri="{BB962C8B-B14F-4D97-AF65-F5344CB8AC3E}">
        <p14:creationId xmlns:p14="http://schemas.microsoft.com/office/powerpoint/2010/main" val="36289604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88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2-color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639" y="295274"/>
            <a:ext cx="11734798" cy="9175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638" y="2072265"/>
            <a:ext cx="11734798" cy="2025170"/>
          </a:xfrm>
        </p:spPr>
        <p:txBody>
          <a:bodyPr/>
          <a:lstStyle>
            <a:lvl1pPr marL="0" indent="0">
              <a:buNone/>
              <a:defRPr>
                <a:solidFill>
                  <a:srgbClr val="001344"/>
                </a:solidFill>
              </a:defRPr>
            </a:lvl1pPr>
            <a:lvl2pPr marL="0" indent="0">
              <a:buFontTx/>
              <a:buNone/>
              <a:defRPr sz="2000"/>
            </a:lvl2pPr>
            <a:lvl3pPr marL="228600" indent="0">
              <a:buNone/>
              <a:defRPr/>
            </a:lvl3pPr>
            <a:lvl4pPr marL="4572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610562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639" y="295274"/>
            <a:ext cx="11734798" cy="9175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638" y="2081692"/>
            <a:ext cx="11734798" cy="2025170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1"/>
                    </a:gs>
                    <a:gs pos="99000">
                      <a:schemeClr val="tx1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2000"/>
            </a:lvl2pPr>
            <a:lvl3pPr marL="228600" indent="0">
              <a:buNone/>
              <a:defRPr/>
            </a:lvl3pPr>
            <a:lvl4pPr marL="4572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313373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st level color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8" y="2080754"/>
            <a:ext cx="11810998" cy="2092881"/>
          </a:xfrm>
        </p:spPr>
        <p:txBody>
          <a:bodyPr wrap="square">
            <a:spAutoFit/>
          </a:bodyPr>
          <a:lstStyle>
            <a:lvl1pPr>
              <a:defRPr sz="4000">
                <a:solidFill>
                  <a:srgbClr val="001344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274639" y="295274"/>
            <a:ext cx="11810998" cy="9175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324043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8" y="2080754"/>
            <a:ext cx="11887198" cy="2092881"/>
          </a:xfrm>
        </p:spPr>
        <p:txBody>
          <a:bodyPr wrap="square">
            <a:spAutoFit/>
          </a:bodyPr>
          <a:lstStyle>
            <a:lvl1pPr>
              <a:defRPr sz="4000">
                <a:solidFill>
                  <a:srgbClr val="001344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274639" y="295274"/>
            <a:ext cx="11887198" cy="9175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032684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2-color Non-bulleted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>
                <a:solidFill>
                  <a:srgbClr val="001344"/>
                </a:solidFill>
              </a:defRPr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>
                <a:solidFill>
                  <a:srgbClr val="001344"/>
                </a:solidFill>
              </a:defRPr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739778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/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/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9599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 1st level color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2"/>
              </a:buClr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2"/>
              </a:buClr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605684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799467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893355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101436" y="2963862"/>
            <a:ext cx="10235966" cy="917575"/>
          </a:xfrm>
        </p:spPr>
        <p:txBody>
          <a:bodyPr anchor="ctr" anchorCtr="0"/>
          <a:lstStyle>
            <a:lvl1pPr algn="l">
              <a:defRPr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37131397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ience Lab slide">
    <p:bg>
      <p:bgPr>
        <a:solidFill>
          <a:srgbClr val="0078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ESS illustration">
            <a:extLst>
              <a:ext uri="{FF2B5EF4-FFF2-40B4-BE49-F238E27FC236}">
                <a16:creationId xmlns:a16="http://schemas.microsoft.com/office/drawing/2014/main" id="{47ADD297-4BFF-4CBD-8B60-30C5BB62AB26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95"/>
          <a:stretch/>
        </p:blipFill>
        <p:spPr bwMode="auto">
          <a:xfrm>
            <a:off x="0" y="-48"/>
            <a:ext cx="12436474" cy="69945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 userDrawn="1"/>
        </p:nvSpPr>
        <p:spPr bwMode="auto">
          <a:xfrm>
            <a:off x="10180637" y="6248400"/>
            <a:ext cx="2255837" cy="754062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>
            <a:outerShdw blurRad="101600" dist="12700" dir="16200000" rotWithShape="0">
              <a:prstClr val="black">
                <a:alpha val="3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chemeClr val="bg1"/>
                </a:solidFill>
                <a:latin typeface="+mn-lt"/>
                <a:ea typeface="Segoe UI" pitchFamily="34" charset="0"/>
                <a:cs typeface="Segoe UI" pitchFamily="34" charset="0"/>
              </a:rPr>
              <a:t>#</a:t>
            </a:r>
            <a:r>
              <a:rPr lang="en-US" sz="2400" err="1">
                <a:solidFill>
                  <a:schemeClr val="bg1"/>
                </a:solidFill>
                <a:latin typeface="+mn-lt"/>
                <a:ea typeface="Segoe UI" pitchFamily="34" charset="0"/>
                <a:cs typeface="Segoe UI" pitchFamily="34" charset="0"/>
              </a:rPr>
              <a:t>GlobalAzure</a:t>
            </a:r>
            <a:endParaRPr lang="en-US" sz="2400">
              <a:solidFill>
                <a:schemeClr val="bg1"/>
              </a:solidFill>
              <a:latin typeface="+mn-lt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554990" y="3954780"/>
            <a:ext cx="9363061" cy="664797"/>
          </a:xfrm>
          <a:prstGeom prst="rect">
            <a:avLst/>
          </a:prstGeom>
          <a:noFill/>
        </p:spPr>
        <p:txBody>
          <a:bodyPr wrap="square" lIns="146304" tIns="109728" rIns="146304" bIns="109728">
            <a:sp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>
                <a:solidFill>
                  <a:schemeClr val="bg1"/>
                </a:solidFill>
              </a:rPr>
              <a:t>Name</a:t>
            </a:r>
          </a:p>
        </p:txBody>
      </p:sp>
      <p:sp>
        <p:nvSpPr>
          <p:cNvPr id="14" name="Title 12"/>
          <p:cNvSpPr>
            <a:spLocks noGrp="1"/>
          </p:cNvSpPr>
          <p:nvPr>
            <p:ph type="title" hasCustomPrompt="1"/>
          </p:nvPr>
        </p:nvSpPr>
        <p:spPr>
          <a:xfrm>
            <a:off x="536702" y="2114550"/>
            <a:ext cx="9363062" cy="1840230"/>
          </a:xfrm>
          <a:prstGeom prst="rect">
            <a:avLst/>
          </a:prstGeom>
        </p:spPr>
        <p:txBody>
          <a:bodyPr lIns="146304" tIns="9144" rIns="146304" bIns="9144" anchor="b" anchorCtr="0"/>
          <a:lstStyle>
            <a:lvl1pPr marL="0" indent="0">
              <a:spcBef>
                <a:spcPts val="0"/>
              </a:spcBef>
              <a:buNone/>
              <a:defRPr sz="72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sz="6000">
                <a:solidFill>
                  <a:schemeClr val="bg1"/>
                </a:solidFill>
              </a:rPr>
              <a:t>Demo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86F279E5-DF2A-4D86-86F4-BB01A0C2E69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/>
          <a:srcRect/>
          <a:stretch/>
        </p:blipFill>
        <p:spPr bwMode="auto">
          <a:xfrm>
            <a:off x="556178" y="6324592"/>
            <a:ext cx="759373" cy="585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85557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">
    <p:bg>
      <p:bgPr>
        <a:solidFill>
          <a:srgbClr val="0013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>
            <a:alphaModFix amt="10000"/>
          </a:blip>
          <a:srcRect t="43378" r="43213" b="10783"/>
          <a:stretch/>
        </p:blipFill>
        <p:spPr>
          <a:xfrm>
            <a:off x="3059030" y="487"/>
            <a:ext cx="9356808" cy="6994038"/>
          </a:xfrm>
          <a:prstGeom prst="rect">
            <a:avLst/>
          </a:prstGeom>
        </p:spPr>
      </p:pic>
      <p:sp>
        <p:nvSpPr>
          <p:cNvPr id="13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554990" y="3954780"/>
            <a:ext cx="9363061" cy="664797"/>
          </a:xfrm>
          <a:prstGeom prst="rect">
            <a:avLst/>
          </a:prstGeom>
          <a:noFill/>
        </p:spPr>
        <p:txBody>
          <a:bodyPr wrap="square" lIns="146304" tIns="109728" rIns="146304" bIns="109728">
            <a:sp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>
                <a:solidFill>
                  <a:schemeClr val="bg1"/>
                </a:solidFill>
              </a:rPr>
              <a:t>Name</a:t>
            </a:r>
          </a:p>
        </p:txBody>
      </p:sp>
      <p:sp>
        <p:nvSpPr>
          <p:cNvPr id="14" name="Title 12"/>
          <p:cNvSpPr>
            <a:spLocks noGrp="1"/>
          </p:cNvSpPr>
          <p:nvPr>
            <p:ph type="title" hasCustomPrompt="1"/>
          </p:nvPr>
        </p:nvSpPr>
        <p:spPr>
          <a:xfrm>
            <a:off x="536702" y="2114550"/>
            <a:ext cx="9363062" cy="1840230"/>
          </a:xfrm>
          <a:prstGeom prst="rect">
            <a:avLst/>
          </a:prstGeom>
        </p:spPr>
        <p:txBody>
          <a:bodyPr lIns="146304" tIns="9144" rIns="146304" bIns="9144" anchor="b" anchorCtr="0"/>
          <a:lstStyle>
            <a:lvl1pPr marL="0" indent="0">
              <a:spcBef>
                <a:spcPts val="0"/>
              </a:spcBef>
              <a:buNone/>
              <a:defRPr sz="72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sz="6000">
                <a:solidFill>
                  <a:schemeClr val="bg1"/>
                </a:solidFill>
              </a:rPr>
              <a:t>Demo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53223EC-F96A-4AE0-91E8-4EE2E9F1CA54}"/>
              </a:ext>
            </a:extLst>
          </p:cNvPr>
          <p:cNvGrpSpPr/>
          <p:nvPr userDrawn="1"/>
        </p:nvGrpSpPr>
        <p:grpSpPr>
          <a:xfrm>
            <a:off x="-1" y="6248400"/>
            <a:ext cx="12436475" cy="754062"/>
            <a:chOff x="-1" y="6248400"/>
            <a:chExt cx="12436475" cy="754062"/>
          </a:xfrm>
        </p:grpSpPr>
        <p:sp>
          <p:nvSpPr>
            <p:cNvPr id="4" name="Rectangle 3"/>
            <p:cNvSpPr/>
            <p:nvPr userDrawn="1"/>
          </p:nvSpPr>
          <p:spPr bwMode="auto">
            <a:xfrm>
              <a:off x="-1" y="6248400"/>
              <a:ext cx="12436475" cy="754062"/>
            </a:xfrm>
            <a:prstGeom prst="rect">
              <a:avLst/>
            </a:prstGeom>
            <a:solidFill>
              <a:schemeClr val="bg1"/>
            </a:solidFill>
            <a:ln>
              <a:noFill/>
              <a:headEnd type="none" w="med" len="med"/>
              <a:tailEnd type="none" w="med" len="med"/>
            </a:ln>
            <a:effectLst>
              <a:outerShdw blurRad="101600" dist="12700" dir="16200000" rotWithShape="0">
                <a:prstClr val="black">
                  <a:alpha val="30000"/>
                </a:prst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2400">
                  <a:solidFill>
                    <a:schemeClr val="tx1"/>
                  </a:solidFill>
                  <a:latin typeface="+mn-lt"/>
                  <a:ea typeface="Segoe UI" pitchFamily="34" charset="0"/>
                  <a:cs typeface="Segoe UI" pitchFamily="34" charset="0"/>
                </a:rPr>
                <a:t>#</a:t>
              </a:r>
              <a:r>
                <a:rPr lang="en-US" sz="2400" err="1">
                  <a:solidFill>
                    <a:schemeClr val="tx1"/>
                  </a:solidFill>
                  <a:latin typeface="+mn-lt"/>
                  <a:ea typeface="Segoe UI" pitchFamily="34" charset="0"/>
                  <a:cs typeface="Segoe UI" pitchFamily="34" charset="0"/>
                </a:rPr>
                <a:t>GlobalAzure</a:t>
              </a:r>
              <a:endParaRPr lang="en-US" sz="2400">
                <a:solidFill>
                  <a:schemeClr val="tx1"/>
                </a:solidFill>
                <a:latin typeface="+mn-lt"/>
                <a:ea typeface="Segoe UI" pitchFamily="34" charset="0"/>
                <a:cs typeface="Segoe UI" pitchFamily="34" charset="0"/>
              </a:endParaRPr>
            </a:p>
          </p:txBody>
        </p:sp>
        <p:pic>
          <p:nvPicPr>
            <p:cNvPr id="8" name="Picture 2">
              <a:extLst>
                <a:ext uri="{FF2B5EF4-FFF2-40B4-BE49-F238E27FC236}">
                  <a16:creationId xmlns:a16="http://schemas.microsoft.com/office/drawing/2014/main" id="{39D67FB8-65E2-45DD-B1AA-59F22B661C9E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"/>
            <a:srcRect/>
            <a:stretch/>
          </p:blipFill>
          <p:spPr bwMode="auto">
            <a:xfrm>
              <a:off x="556178" y="6324592"/>
              <a:ext cx="759373" cy="5858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" name="TextBox 4">
            <a:extLst>
              <a:ext uri="{FF2B5EF4-FFF2-40B4-BE49-F238E27FC236}">
                <a16:creationId xmlns:a16="http://schemas.microsoft.com/office/drawing/2014/main" id="{A42C45B5-4C00-6F8F-7202-1B5AF170940B}"/>
              </a:ext>
            </a:extLst>
          </p:cNvPr>
          <p:cNvSpPr txBox="1"/>
          <p:nvPr userDrawn="1"/>
        </p:nvSpPr>
        <p:spPr>
          <a:xfrm>
            <a:off x="10029963" y="592172"/>
            <a:ext cx="1845890" cy="517065"/>
          </a:xfrm>
          <a:prstGeom prst="rect">
            <a:avLst/>
          </a:prstGeom>
          <a:solidFill>
            <a:srgbClr val="E3C038"/>
          </a:solidFill>
        </p:spPr>
        <p:txBody>
          <a:bodyPr wrap="none" lIns="182880" tIns="146304" rIns="182880" bIns="146304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s-ES" sz="1600" dirty="0">
                <a:solidFill>
                  <a:srgbClr val="001344"/>
                </a:solidFill>
                <a:latin typeface="+mn-lt"/>
              </a:rPr>
              <a:t>#AzureTour2026</a:t>
            </a:r>
          </a:p>
        </p:txBody>
      </p:sp>
    </p:spTree>
    <p:extLst>
      <p:ext uri="{BB962C8B-B14F-4D97-AF65-F5344CB8AC3E}">
        <p14:creationId xmlns:p14="http://schemas.microsoft.com/office/powerpoint/2010/main" val="38976025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 - 2">
    <p:bg>
      <p:bgPr>
        <a:solidFill>
          <a:srgbClr val="5C2D9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>
            <a:alphaModFix amt="10000"/>
          </a:blip>
          <a:srcRect t="43378" r="43213" b="10783"/>
          <a:stretch/>
        </p:blipFill>
        <p:spPr>
          <a:xfrm>
            <a:off x="3059030" y="487"/>
            <a:ext cx="9356808" cy="6994038"/>
          </a:xfrm>
          <a:prstGeom prst="rect">
            <a:avLst/>
          </a:prstGeom>
        </p:spPr>
      </p:pic>
      <p:sp>
        <p:nvSpPr>
          <p:cNvPr id="4" name="Rectangle 3"/>
          <p:cNvSpPr/>
          <p:nvPr userDrawn="1"/>
        </p:nvSpPr>
        <p:spPr bwMode="auto">
          <a:xfrm>
            <a:off x="-1" y="6248400"/>
            <a:ext cx="12436475" cy="754062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>
            <a:outerShdw blurRad="101600" dist="12700" dir="16200000" rotWithShape="0">
              <a:prstClr val="black">
                <a:alpha val="3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chemeClr val="tx1"/>
                </a:solidFill>
                <a:latin typeface="+mn-lt"/>
                <a:ea typeface="Segoe UI" pitchFamily="34" charset="0"/>
                <a:cs typeface="Segoe UI" pitchFamily="34" charset="0"/>
              </a:rPr>
              <a:t>#</a:t>
            </a:r>
            <a:r>
              <a:rPr lang="en-US" sz="2400" err="1">
                <a:solidFill>
                  <a:schemeClr val="tx1"/>
                </a:solidFill>
                <a:latin typeface="+mn-lt"/>
                <a:ea typeface="Segoe UI" pitchFamily="34" charset="0"/>
                <a:cs typeface="Segoe UI" pitchFamily="34" charset="0"/>
              </a:rPr>
              <a:t>GlobalAzure</a:t>
            </a:r>
            <a:endParaRPr lang="en-US" sz="2400">
              <a:solidFill>
                <a:schemeClr val="tx1"/>
              </a:solidFill>
              <a:latin typeface="+mn-lt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554990" y="3954780"/>
            <a:ext cx="9363061" cy="664797"/>
          </a:xfrm>
          <a:prstGeom prst="rect">
            <a:avLst/>
          </a:prstGeom>
          <a:noFill/>
        </p:spPr>
        <p:txBody>
          <a:bodyPr wrap="square" lIns="146304" tIns="109728" rIns="146304" bIns="109728">
            <a:sp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>
                <a:solidFill>
                  <a:schemeClr val="bg1"/>
                </a:solidFill>
              </a:rPr>
              <a:t>Name</a:t>
            </a:r>
          </a:p>
        </p:txBody>
      </p:sp>
      <p:sp>
        <p:nvSpPr>
          <p:cNvPr id="14" name="Title 12"/>
          <p:cNvSpPr>
            <a:spLocks noGrp="1"/>
          </p:cNvSpPr>
          <p:nvPr>
            <p:ph type="title" hasCustomPrompt="1"/>
          </p:nvPr>
        </p:nvSpPr>
        <p:spPr>
          <a:xfrm>
            <a:off x="554990" y="2114550"/>
            <a:ext cx="9363062" cy="1840230"/>
          </a:xfrm>
          <a:prstGeom prst="rect">
            <a:avLst/>
          </a:prstGeom>
        </p:spPr>
        <p:txBody>
          <a:bodyPr lIns="146304" tIns="9144" rIns="146304" bIns="9144" anchor="b" anchorCtr="0"/>
          <a:lstStyle>
            <a:lvl1pPr marL="0" indent="0">
              <a:spcBef>
                <a:spcPts val="0"/>
              </a:spcBef>
              <a:buNone/>
              <a:defRPr sz="60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sz="6000">
                <a:solidFill>
                  <a:schemeClr val="bg1"/>
                </a:solidFill>
              </a:rPr>
              <a:t>Demo</a:t>
            </a: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44C12652-0A33-4554-B697-2B267F7BB16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/>
          <a:srcRect/>
          <a:stretch/>
        </p:blipFill>
        <p:spPr bwMode="auto">
          <a:xfrm>
            <a:off x="556178" y="6324592"/>
            <a:ext cx="759373" cy="585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4">
            <a:extLst>
              <a:ext uri="{FF2B5EF4-FFF2-40B4-BE49-F238E27FC236}">
                <a16:creationId xmlns:a16="http://schemas.microsoft.com/office/drawing/2014/main" id="{6166D4C8-34A3-C486-7AE2-5AA296C9BAFD}"/>
              </a:ext>
            </a:extLst>
          </p:cNvPr>
          <p:cNvSpPr txBox="1"/>
          <p:nvPr userDrawn="1"/>
        </p:nvSpPr>
        <p:spPr>
          <a:xfrm>
            <a:off x="10029963" y="592172"/>
            <a:ext cx="1845890" cy="517065"/>
          </a:xfrm>
          <a:prstGeom prst="rect">
            <a:avLst/>
          </a:prstGeom>
          <a:solidFill>
            <a:srgbClr val="E3C038"/>
          </a:solidFill>
        </p:spPr>
        <p:txBody>
          <a:bodyPr wrap="none" lIns="182880" tIns="146304" rIns="182880" bIns="146304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s-ES" sz="1600" dirty="0">
                <a:solidFill>
                  <a:srgbClr val="001344"/>
                </a:solidFill>
                <a:latin typeface="+mn-lt"/>
              </a:rPr>
              <a:t>#AzureTour2026</a:t>
            </a:r>
          </a:p>
        </p:txBody>
      </p:sp>
    </p:spTree>
    <p:extLst>
      <p:ext uri="{BB962C8B-B14F-4D97-AF65-F5344CB8AC3E}">
        <p14:creationId xmlns:p14="http://schemas.microsoft.com/office/powerpoint/2010/main" val="42309996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8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 - 3">
    <p:bg>
      <p:bgPr>
        <a:solidFill>
          <a:srgbClr val="00827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>
            <a:alphaModFix amt="10000"/>
          </a:blip>
          <a:srcRect t="43378" r="43213" b="10783"/>
          <a:stretch/>
        </p:blipFill>
        <p:spPr>
          <a:xfrm>
            <a:off x="3059030" y="487"/>
            <a:ext cx="9356808" cy="6994038"/>
          </a:xfrm>
          <a:prstGeom prst="rect">
            <a:avLst/>
          </a:prstGeom>
        </p:spPr>
      </p:pic>
      <p:sp>
        <p:nvSpPr>
          <p:cNvPr id="4" name="Rectangle 3"/>
          <p:cNvSpPr/>
          <p:nvPr userDrawn="1"/>
        </p:nvSpPr>
        <p:spPr bwMode="auto">
          <a:xfrm>
            <a:off x="-1" y="6248400"/>
            <a:ext cx="12436475" cy="754062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>
            <a:outerShdw blurRad="101600" dist="12700" dir="16200000" rotWithShape="0">
              <a:prstClr val="black">
                <a:alpha val="3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chemeClr val="tx1"/>
                </a:solidFill>
                <a:latin typeface="+mn-lt"/>
                <a:ea typeface="Segoe UI" pitchFamily="34" charset="0"/>
                <a:cs typeface="Segoe UI" pitchFamily="34" charset="0"/>
              </a:rPr>
              <a:t>#</a:t>
            </a:r>
            <a:r>
              <a:rPr lang="en-US" sz="2400" err="1">
                <a:solidFill>
                  <a:schemeClr val="tx1"/>
                </a:solidFill>
                <a:latin typeface="+mn-lt"/>
                <a:ea typeface="Segoe UI" pitchFamily="34" charset="0"/>
                <a:cs typeface="Segoe UI" pitchFamily="34" charset="0"/>
              </a:rPr>
              <a:t>GlobalAzure</a:t>
            </a:r>
            <a:endParaRPr lang="en-US" sz="2400">
              <a:solidFill>
                <a:schemeClr val="tx1"/>
              </a:solidFill>
              <a:latin typeface="+mn-lt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554990" y="3954780"/>
            <a:ext cx="9363061" cy="664797"/>
          </a:xfrm>
          <a:prstGeom prst="rect">
            <a:avLst/>
          </a:prstGeom>
          <a:noFill/>
        </p:spPr>
        <p:txBody>
          <a:bodyPr wrap="square" lIns="146304" tIns="109728" rIns="146304" bIns="109728">
            <a:sp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>
                <a:solidFill>
                  <a:schemeClr val="bg1"/>
                </a:solidFill>
              </a:rPr>
              <a:t>Name</a:t>
            </a:r>
          </a:p>
        </p:txBody>
      </p:sp>
      <p:sp>
        <p:nvSpPr>
          <p:cNvPr id="14" name="Title 12"/>
          <p:cNvSpPr>
            <a:spLocks noGrp="1"/>
          </p:cNvSpPr>
          <p:nvPr>
            <p:ph type="title" hasCustomPrompt="1"/>
          </p:nvPr>
        </p:nvSpPr>
        <p:spPr>
          <a:xfrm>
            <a:off x="554990" y="2114550"/>
            <a:ext cx="9363062" cy="1840230"/>
          </a:xfrm>
          <a:prstGeom prst="rect">
            <a:avLst/>
          </a:prstGeom>
        </p:spPr>
        <p:txBody>
          <a:bodyPr lIns="146304" tIns="9144" rIns="146304" bIns="9144" anchor="b" anchorCtr="0"/>
          <a:lstStyle>
            <a:lvl1pPr marL="0" indent="0">
              <a:spcBef>
                <a:spcPts val="0"/>
              </a:spcBef>
              <a:buNone/>
              <a:defRPr sz="72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sz="6000">
                <a:solidFill>
                  <a:schemeClr val="bg1"/>
                </a:solidFill>
              </a:rPr>
              <a:t>Demo</a:t>
            </a: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B5073E28-B4ED-4EAC-831D-E398FF3BFE2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/>
          <a:srcRect/>
          <a:stretch/>
        </p:blipFill>
        <p:spPr bwMode="auto">
          <a:xfrm>
            <a:off x="556178" y="6324592"/>
            <a:ext cx="759373" cy="585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4">
            <a:extLst>
              <a:ext uri="{FF2B5EF4-FFF2-40B4-BE49-F238E27FC236}">
                <a16:creationId xmlns:a16="http://schemas.microsoft.com/office/drawing/2014/main" id="{27564712-EAA5-FD1E-7EFC-ECB52456B491}"/>
              </a:ext>
            </a:extLst>
          </p:cNvPr>
          <p:cNvSpPr txBox="1"/>
          <p:nvPr userDrawn="1"/>
        </p:nvSpPr>
        <p:spPr>
          <a:xfrm>
            <a:off x="10029963" y="592172"/>
            <a:ext cx="1845890" cy="517065"/>
          </a:xfrm>
          <a:prstGeom prst="rect">
            <a:avLst/>
          </a:prstGeom>
          <a:solidFill>
            <a:srgbClr val="E3C038"/>
          </a:solidFill>
        </p:spPr>
        <p:txBody>
          <a:bodyPr wrap="none" lIns="182880" tIns="146304" rIns="182880" bIns="146304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s-ES" sz="1600" dirty="0">
                <a:solidFill>
                  <a:srgbClr val="001344"/>
                </a:solidFill>
                <a:latin typeface="+mn-lt"/>
              </a:rPr>
              <a:t>#AzureTour2026</a:t>
            </a:r>
          </a:p>
        </p:txBody>
      </p:sp>
    </p:spTree>
    <p:extLst>
      <p:ext uri="{BB962C8B-B14F-4D97-AF65-F5344CB8AC3E}">
        <p14:creationId xmlns:p14="http://schemas.microsoft.com/office/powerpoint/2010/main" val="24553863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8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>
            <a:alphaModFix amt="10000"/>
          </a:blip>
          <a:srcRect t="43378" r="43213" b="10783"/>
          <a:stretch/>
        </p:blipFill>
        <p:spPr>
          <a:xfrm>
            <a:off x="3059030" y="487"/>
            <a:ext cx="9356808" cy="69940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9437" y="1209973"/>
            <a:ext cx="11125200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/>
              <a:t>Video title</a:t>
            </a:r>
          </a:p>
        </p:txBody>
      </p:sp>
    </p:spTree>
    <p:extLst>
      <p:ext uri="{BB962C8B-B14F-4D97-AF65-F5344CB8AC3E}">
        <p14:creationId xmlns:p14="http://schemas.microsoft.com/office/powerpoint/2010/main" val="17841475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Transmis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>
            <a:alphaModFix amt="10000"/>
          </a:blip>
          <a:srcRect t="43378" r="43213" b="10783"/>
          <a:stretch/>
        </p:blipFill>
        <p:spPr>
          <a:xfrm>
            <a:off x="3059030" y="487"/>
            <a:ext cx="9356808" cy="69940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2860" y="2125662"/>
            <a:ext cx="5675377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9086985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Plain">
    <p:bg>
      <p:bgPr>
        <a:solidFill>
          <a:srgbClr val="0013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542860" y="2125662"/>
            <a:ext cx="5675377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689345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-50 Right Photo">
    <p:bg>
      <p:bgPr>
        <a:solidFill>
          <a:srgbClr val="0013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3237" y="1241426"/>
            <a:ext cx="5257801" cy="2012859"/>
          </a:xfrm>
        </p:spPr>
        <p:txBody>
          <a:bodyPr wrap="square">
            <a:spAutoFit/>
          </a:bodyPr>
          <a:lstStyle>
            <a:lvl1pPr>
              <a:defRPr sz="66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50/50 photo layout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 bwMode="ltGray">
          <a:xfrm>
            <a:off x="6232525" y="0"/>
            <a:ext cx="6216650" cy="6992587"/>
          </a:xfrm>
          <a:blipFill dpi="0" rotWithShape="1">
            <a:blip r:embed="rId2"/>
            <a:srcRect/>
            <a:stretch>
              <a:fillRect/>
            </a:stretch>
          </a:blipFill>
        </p:spPr>
        <p:txBody>
          <a:bodyPr tIns="548640" anchor="ctr" anchorCtr="0">
            <a:noAutofit/>
          </a:bodyPr>
          <a:lstStyle>
            <a:lvl1pPr marL="0" indent="0" algn="ctr">
              <a:buNone/>
              <a:defRPr sz="1600" b="1" cap="none" baseline="0">
                <a:gradFill>
                  <a:gsLst>
                    <a:gs pos="0">
                      <a:srgbClr val="FFFFFF"/>
                    </a:gs>
                    <a:gs pos="27000">
                      <a:srgbClr val="FFFFFF"/>
                    </a:gs>
                  </a:gsLst>
                  <a:lin ang="5400000" scaled="0"/>
                </a:gradFill>
                <a:latin typeface="+mn-lt"/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3669745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">
    <p:bg>
      <p:bgPr>
        <a:solidFill>
          <a:srgbClr val="0013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56753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ith background">
    <p:bg>
      <p:bgPr>
        <a:solidFill>
          <a:srgbClr val="0013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2">
            <a:alphaModFix amt="10000"/>
          </a:blip>
          <a:srcRect t="43378" r="43213" b="10783"/>
          <a:stretch/>
        </p:blipFill>
        <p:spPr>
          <a:xfrm>
            <a:off x="3059030" y="487"/>
            <a:ext cx="9356808" cy="6994038"/>
          </a:xfrm>
          <a:prstGeom prst="rect">
            <a:avLst/>
          </a:prstGeom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A356E502-99D7-4E6F-BB67-C71A0A5718C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/>
          <a:srcRect/>
          <a:stretch/>
        </p:blipFill>
        <p:spPr bwMode="auto">
          <a:xfrm>
            <a:off x="583137" y="5557665"/>
            <a:ext cx="1313398" cy="1013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21985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 with background">
    <p:bg>
      <p:bgPr>
        <a:solidFill>
          <a:srgbClr val="0013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2">
            <a:alphaModFix amt="10000"/>
          </a:blip>
          <a:srcRect t="43378" r="43213" b="10783"/>
          <a:stretch/>
        </p:blipFill>
        <p:spPr>
          <a:xfrm>
            <a:off x="3059030" y="487"/>
            <a:ext cx="9356808" cy="6994038"/>
          </a:xfrm>
          <a:prstGeom prst="rect">
            <a:avLst/>
          </a:prstGeom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A356E502-99D7-4E6F-BB67-C71A0A5718C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/>
          <a:srcRect/>
          <a:stretch/>
        </p:blipFill>
        <p:spPr bwMode="auto">
          <a:xfrm>
            <a:off x="583137" y="5557951"/>
            <a:ext cx="1313398" cy="1012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92985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 with background">
    <p:bg>
      <p:bgPr>
        <a:solidFill>
          <a:srgbClr val="0013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2">
            <a:alphaModFix amt="10000"/>
          </a:blip>
          <a:srcRect t="43378" r="43213" b="10783"/>
          <a:stretch/>
        </p:blipFill>
        <p:spPr>
          <a:xfrm>
            <a:off x="3059030" y="487"/>
            <a:ext cx="9356808" cy="6994038"/>
          </a:xfrm>
          <a:prstGeom prst="rect">
            <a:avLst/>
          </a:prstGeom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8B1C1329-1CD0-4FD3-9BCE-1F6CC85C334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/>
          <a:srcRect/>
          <a:stretch/>
        </p:blipFill>
        <p:spPr bwMode="auto">
          <a:xfrm>
            <a:off x="10717737" y="5557665"/>
            <a:ext cx="1313398" cy="1013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38469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2">
    <p:bg>
      <p:bgPr>
        <a:solidFill>
          <a:srgbClr val="5C2D9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01599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/>
              <a:t>Slide for developer code</a:t>
            </a:r>
          </a:p>
        </p:txBody>
      </p:sp>
      <p:sp>
        <p:nvSpPr>
          <p:cNvPr id="3" name="Rectangle 2"/>
          <p:cNvSpPr/>
          <p:nvPr userDrawn="1"/>
        </p:nvSpPr>
        <p:spPr bwMode="hidden">
          <a:xfrm>
            <a:off x="1" y="1212849"/>
            <a:ext cx="12436475" cy="5781676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6639" tIns="46639" rIns="46639" bIns="4663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74638" y="1221157"/>
            <a:ext cx="11887199" cy="1995931"/>
          </a:xfrm>
        </p:spPr>
        <p:txBody>
          <a:bodyPr/>
          <a:lstStyle>
            <a:lvl1pPr marL="0" indent="0">
              <a:buNone/>
              <a:defRPr sz="3300"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29962453"/>
      </p:ext>
    </p:extLst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 Connect logo">
    <p:bg>
      <p:bgPr>
        <a:solidFill>
          <a:srgbClr val="0013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>
            <a:extLst>
              <a:ext uri="{FF2B5EF4-FFF2-40B4-BE49-F238E27FC236}">
                <a16:creationId xmlns:a16="http://schemas.microsoft.com/office/drawing/2014/main" id="{9663C590-E0BC-4AF6-BE38-F7A08ED0E4A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/>
          <a:srcRect/>
          <a:stretch/>
        </p:blipFill>
        <p:spPr bwMode="auto">
          <a:xfrm>
            <a:off x="10717737" y="5557665"/>
            <a:ext cx="1313398" cy="1013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50691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 Micro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093C7B6F-64E5-4FFA-A7F0-2D56F53103C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/>
          <a:srcRect/>
          <a:stretch/>
        </p:blipFill>
        <p:spPr bwMode="auto">
          <a:xfrm>
            <a:off x="2591423" y="699759"/>
            <a:ext cx="7253629" cy="5595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13836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Notes slide Layout">
    <p:bg bwMode="black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274638" y="1212850"/>
            <a:ext cx="11887200" cy="2443746"/>
          </a:xfrm>
          <a:prstGeom prst="rect">
            <a:avLst/>
          </a:prstGeom>
        </p:spPr>
        <p:txBody>
          <a:bodyPr/>
          <a:lstStyle>
            <a:lvl1pPr marL="2905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36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571500" indent="-280988">
              <a:buClr>
                <a:schemeClr val="tx1"/>
              </a:buClr>
              <a:buSzPct val="90000"/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8620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28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0906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4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3192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0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</a:lstStyle>
          <a:p>
            <a:pPr lvl="0"/>
            <a:r>
              <a:rPr lang="en-US"/>
              <a:t>Use this Layout for Speaker Notes slides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363076"/>
            <a:ext cx="12436476" cy="631450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77729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/>
              <a:t>Next: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829696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ree Labels Slide">
    <p:bg>
      <p:bgPr>
        <a:solidFill>
          <a:srgbClr val="0013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93473" y="4728101"/>
            <a:ext cx="5695057" cy="1220692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lang="en-US" sz="3654" kern="1200" spc="-72" baseline="0" dirty="0">
                <a:gradFill>
                  <a:gsLst>
                    <a:gs pos="100000">
                      <a:schemeClr val="bg1"/>
                    </a:gs>
                    <a:gs pos="0">
                      <a:schemeClr val="bg1"/>
                    </a:gs>
                  </a:gsLst>
                  <a:lin ang="5400000" scaled="0"/>
                </a:gra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1pPr>
            <a:lvl2pPr marL="4663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326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989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652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3316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979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642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730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932646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</a:pPr>
            <a:r>
              <a:rPr lang="en-US"/>
              <a:t>Click to edit master subtitle style</a:t>
            </a:r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793473" y="1306748"/>
            <a:ext cx="5695057" cy="3009670"/>
          </a:xfrm>
        </p:spPr>
        <p:txBody>
          <a:bodyPr wrap="square" anchor="b">
            <a:spAutoFit/>
          </a:bodyPr>
          <a:lstStyle>
            <a:lvl1pPr marL="0" indent="0">
              <a:buNone/>
              <a:defRPr sz="6799" spc="-154">
                <a:gradFill>
                  <a:gsLst>
                    <a:gs pos="100000">
                      <a:schemeClr val="bg1"/>
                    </a:gs>
                    <a:gs pos="0">
                      <a:schemeClr val="bg1"/>
                    </a:gs>
                  </a:gsLst>
                  <a:lin ang="5400000" scaled="0"/>
                </a:gra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FAB706D1-846F-475D-9CD4-6859FB1DB29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/>
          <a:srcRect/>
          <a:stretch/>
        </p:blipFill>
        <p:spPr bwMode="auto">
          <a:xfrm>
            <a:off x="10717737" y="5557665"/>
            <a:ext cx="1313397" cy="1013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97630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97656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- Dark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9875133"/>
      </p:ext>
    </p:extLst>
  </p:cSld>
  <p:clrMapOvr>
    <a:masterClrMapping/>
  </p:clrMapOvr>
  <p:transition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lkin">
    <p:bg>
      <p:bgPr>
        <a:solidFill>
          <a:srgbClr val="0013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hidden="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9230" y="6240963"/>
            <a:ext cx="1278510" cy="274137"/>
          </a:xfrm>
          <a:prstGeom prst="rect">
            <a:avLst/>
          </a:prstGeom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A547EE5A-ACB4-4CAA-8C2B-35ACEB2C10D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/>
          <a:srcRect/>
          <a:stretch/>
        </p:blipFill>
        <p:spPr bwMode="auto">
          <a:xfrm>
            <a:off x="10715315" y="5555796"/>
            <a:ext cx="1318242" cy="10169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33843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65181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1"/>
                    </a:gs>
                    <a:gs pos="99000">
                      <a:schemeClr val="tx1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2400"/>
            </a:lvl2pPr>
            <a:lvl3pPr marL="228600" indent="0">
              <a:buNone/>
              <a:defRPr/>
            </a:lvl3pPr>
            <a:lvl4pPr marL="4572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39774513"/>
      </p:ext>
    </p:extLst>
  </p:cSld>
  <p:clrMapOvr>
    <a:masterClrMapping/>
  </p:clrMapOvr>
  <p:transition>
    <p:fade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92881"/>
          </a:xfrm>
        </p:spPr>
        <p:txBody>
          <a:bodyPr>
            <a:spAutoFit/>
          </a:bodyPr>
          <a:lstStyle>
            <a:lvl1pPr>
              <a:defRPr sz="40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10676225"/>
      </p:ext>
    </p:extLst>
  </p:cSld>
  <p:clrMapOvr>
    <a:masterClrMapping/>
  </p:clrMapOvr>
  <p:transition>
    <p:fad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1982081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/>
            </a:lvl1pPr>
            <a:lvl2pPr marL="0" indent="0">
              <a:buNone/>
              <a:defRPr sz="24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1982081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/>
            </a:lvl1pPr>
            <a:lvl2pPr marL="0" indent="0">
              <a:buNone/>
              <a:defRPr sz="24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42542555"/>
      </p:ext>
    </p:extLst>
  </p:cSld>
  <p:clrMapOvr>
    <a:masterClrMapping/>
  </p:clrMapOvr>
  <p:transition>
    <p:fade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03174803"/>
      </p:ext>
    </p:extLst>
  </p:cSld>
  <p:clrMapOvr>
    <a:masterClrMapping/>
  </p:clrMapOvr>
  <p:transition>
    <p:fade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65293602"/>
      </p:ext>
    </p:extLst>
  </p:cSld>
  <p:clrMapOvr>
    <a:masterClrMapping/>
  </p:clrMapOvr>
  <p:transition>
    <p:fade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101436" y="2963862"/>
            <a:ext cx="10235966" cy="917575"/>
          </a:xfrm>
        </p:spPr>
        <p:txBody>
          <a:bodyPr anchor="ctr" anchorCtr="0"/>
          <a:lstStyle>
            <a:lvl1pPr algn="l">
              <a:defRPr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3663928"/>
      </p:ext>
    </p:extLst>
  </p:cSld>
  <p:clrMapOvr>
    <a:masterClrMapping/>
  </p:clrMapOvr>
  <p:transition>
    <p:fade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">
    <p:bg>
      <p:bgPr>
        <a:solidFill>
          <a:srgbClr val="0013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 userDrawn="1"/>
        </p:nvSpPr>
        <p:spPr bwMode="auto">
          <a:xfrm>
            <a:off x="-1" y="5839619"/>
            <a:ext cx="12436475" cy="1154906"/>
          </a:xfrm>
          <a:prstGeom prst="rect">
            <a:avLst/>
          </a:prstGeom>
          <a:solidFill>
            <a:srgbClr val="50505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+mn-lt"/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 rotWithShape="1">
          <a:blip r:embed="rId2">
            <a:alphaModFix amt="10000"/>
          </a:blip>
          <a:srcRect t="43378" r="43213" b="10783"/>
          <a:stretch/>
        </p:blipFill>
        <p:spPr>
          <a:xfrm>
            <a:off x="3063793" y="487"/>
            <a:ext cx="9356808" cy="6994038"/>
          </a:xfrm>
          <a:prstGeom prst="rect">
            <a:avLst/>
          </a:prstGeom>
        </p:spPr>
      </p:pic>
      <p:sp>
        <p:nvSpPr>
          <p:cNvPr id="20" name="Title 12"/>
          <p:cNvSpPr>
            <a:spLocks noGrp="1"/>
          </p:cNvSpPr>
          <p:nvPr>
            <p:ph type="title" hasCustomPrompt="1"/>
          </p:nvPr>
        </p:nvSpPr>
        <p:spPr>
          <a:xfrm>
            <a:off x="554990" y="2114550"/>
            <a:ext cx="9363062" cy="1840230"/>
          </a:xfrm>
          <a:prstGeom prst="rect">
            <a:avLst/>
          </a:prstGeom>
        </p:spPr>
        <p:txBody>
          <a:bodyPr lIns="146304" tIns="9144" rIns="146304" bIns="9144" anchor="b" anchorCtr="0"/>
          <a:lstStyle>
            <a:lvl1pPr marL="0" indent="0">
              <a:spcBef>
                <a:spcPts val="0"/>
              </a:spcBef>
              <a:buNone/>
              <a:defRPr sz="6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Demo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554990" y="3946842"/>
            <a:ext cx="9363061" cy="664797"/>
          </a:xfrm>
          <a:prstGeom prst="rect">
            <a:avLst/>
          </a:prstGeom>
          <a:noFill/>
        </p:spPr>
        <p:txBody>
          <a:bodyPr wrap="square" lIns="146304" tIns="109728" rIns="146304" bIns="109728">
            <a:spAutoFit/>
          </a:bodyPr>
          <a:lstStyle>
            <a:lvl1pPr marL="0" indent="0">
              <a:spcBef>
                <a:spcPts val="0"/>
              </a:spcBef>
              <a:buNone/>
              <a:defRPr lang="en-US" sz="3200" kern="1200" spc="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</p:spTree>
    <p:extLst>
      <p:ext uri="{BB962C8B-B14F-4D97-AF65-F5344CB8AC3E}">
        <p14:creationId xmlns:p14="http://schemas.microsoft.com/office/powerpoint/2010/main" val="31637289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>
            <a:alphaModFix amt="10000"/>
          </a:blip>
          <a:srcRect t="43378" r="43213" b="10783"/>
          <a:stretch/>
        </p:blipFill>
        <p:spPr>
          <a:xfrm>
            <a:off x="3211430" y="152887"/>
            <a:ext cx="9356808" cy="6994038"/>
          </a:xfrm>
          <a:prstGeom prst="rect">
            <a:avLst/>
          </a:prstGeom>
        </p:spPr>
      </p:pic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543368" y="1209973"/>
            <a:ext cx="11188701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21239">
                      <a:srgbClr val="FFFFFF"/>
                    </a:gs>
                    <a:gs pos="52000">
                      <a:srgbClr val="FFFFFF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/>
              <a:t>Video title</a:t>
            </a:r>
          </a:p>
        </p:txBody>
      </p:sp>
    </p:spTree>
    <p:extLst>
      <p:ext uri="{BB962C8B-B14F-4D97-AF65-F5344CB8AC3E}">
        <p14:creationId xmlns:p14="http://schemas.microsoft.com/office/powerpoint/2010/main" val="18150593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Transmission">
    <p:bg>
      <p:bgPr>
        <a:solidFill>
          <a:srgbClr val="0013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>
            <a:alphaModFix amt="10000"/>
          </a:blip>
          <a:srcRect t="43378" r="43213" b="10783"/>
          <a:stretch/>
        </p:blipFill>
        <p:spPr>
          <a:xfrm>
            <a:off x="3211430" y="152887"/>
            <a:ext cx="9356808" cy="6994038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503236" y="2125662"/>
            <a:ext cx="11658601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5372050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2">
    <p:bg>
      <p:bgPr>
        <a:solidFill>
          <a:srgbClr val="5C2D9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15936" y="2125662"/>
            <a:ext cx="11658601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21239">
                      <a:srgbClr val="FFFFFF"/>
                    </a:gs>
                    <a:gs pos="52000">
                      <a:srgbClr val="FFFFFF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41242146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-50 Right Pho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503238" y="1241426"/>
            <a:ext cx="5333999" cy="2012859"/>
          </a:xfrm>
        </p:spPr>
        <p:txBody>
          <a:bodyPr wrap="square">
            <a:spAutoFit/>
          </a:bodyPr>
          <a:lstStyle>
            <a:lvl1pPr>
              <a:defRPr sz="66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50/50 photo layout</a:t>
            </a:r>
          </a:p>
        </p:txBody>
      </p:sp>
      <p:sp>
        <p:nvSpPr>
          <p:cNvPr id="6" name="Picture Placeholder 4"/>
          <p:cNvSpPr>
            <a:spLocks noGrp="1"/>
          </p:cNvSpPr>
          <p:nvPr>
            <p:ph type="pic" sz="quarter" idx="10"/>
          </p:nvPr>
        </p:nvSpPr>
        <p:spPr bwMode="ltGray">
          <a:xfrm>
            <a:off x="6232525" y="0"/>
            <a:ext cx="6216650" cy="6992587"/>
          </a:xfrm>
          <a:blipFill dpi="0" rotWithShape="1">
            <a:blip r:embed="rId2"/>
            <a:srcRect/>
            <a:stretch>
              <a:fillRect/>
            </a:stretch>
          </a:blipFill>
        </p:spPr>
        <p:txBody>
          <a:bodyPr tIns="548640" anchor="ctr" anchorCtr="0">
            <a:noAutofit/>
          </a:bodyPr>
          <a:lstStyle>
            <a:lvl1pPr marL="0" indent="0" algn="ctr">
              <a:buNone/>
              <a:defRPr sz="1600" b="1" cap="none" baseline="0">
                <a:gradFill>
                  <a:gsLst>
                    <a:gs pos="0">
                      <a:srgbClr val="FFFFFF"/>
                    </a:gs>
                    <a:gs pos="27000">
                      <a:srgbClr val="FFFFFF"/>
                    </a:gs>
                  </a:gsLst>
                  <a:lin ang="5400000" scaled="0"/>
                </a:gradFill>
                <a:latin typeface="+mn-lt"/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8461135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- Dark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8687537"/>
      </p:ext>
    </p:extLst>
  </p:cSld>
  <p:clrMapOvr>
    <a:masterClrMapping/>
  </p:clrMapOvr>
  <p:transition>
    <p:fade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1">
    <p:bg>
      <p:bgPr>
        <a:solidFill>
          <a:srgbClr val="0013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73054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50803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/>
              <a:t>Slide for developer code</a:t>
            </a:r>
          </a:p>
        </p:txBody>
      </p:sp>
      <p:sp>
        <p:nvSpPr>
          <p:cNvPr id="3" name="Rectangle 2"/>
          <p:cNvSpPr/>
          <p:nvPr userDrawn="1"/>
        </p:nvSpPr>
        <p:spPr bwMode="hidden">
          <a:xfrm>
            <a:off x="1" y="1212849"/>
            <a:ext cx="12436475" cy="5781676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6639" tIns="46639" rIns="46639" bIns="4663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74638" y="1221157"/>
            <a:ext cx="11887199" cy="1995931"/>
          </a:xfrm>
        </p:spPr>
        <p:txBody>
          <a:bodyPr/>
          <a:lstStyle>
            <a:lvl1pPr marL="0" indent="0">
              <a:buNone/>
              <a:defRPr sz="3300"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87052569"/>
      </p:ext>
    </p:extLst>
  </p:cSld>
  <p:clrMapOvr>
    <a:masterClrMapping/>
  </p:clrMapOvr>
  <p:transition>
    <p:fade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 Connect logo">
    <p:bg>
      <p:bgPr>
        <a:solidFill>
          <a:srgbClr val="0013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06C4BA6A-4F70-4166-A7E0-B045642A6F2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/>
          <a:srcRect/>
          <a:stretch/>
        </p:blipFill>
        <p:spPr bwMode="auto">
          <a:xfrm>
            <a:off x="10715315" y="5555796"/>
            <a:ext cx="1318242" cy="10169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5131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Notes slide Layout">
    <p:bg bwMode="black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274638" y="1212850"/>
            <a:ext cx="11887200" cy="2443746"/>
          </a:xfrm>
          <a:prstGeom prst="rect">
            <a:avLst/>
          </a:prstGeom>
        </p:spPr>
        <p:txBody>
          <a:bodyPr/>
          <a:lstStyle>
            <a:lvl1pPr marL="2905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36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571500" indent="-280988">
              <a:buClr>
                <a:schemeClr val="tx1"/>
              </a:buClr>
              <a:buSzPct val="90000"/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8620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28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0906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4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3192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0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</a:lstStyle>
          <a:p>
            <a:pPr lvl="0"/>
            <a:r>
              <a:rPr lang="en-US"/>
              <a:t>Use this Layout for Speaker Notes slides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363076"/>
            <a:ext cx="12436476" cy="631450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77729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/>
              <a:t>Next: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365035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slideLayout" Target="../slideLayouts/slideLayout49.xml"/><Relationship Id="rId18" Type="http://schemas.openxmlformats.org/officeDocument/2006/relationships/slideLayout" Target="../slideLayouts/slideLayout54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17" Type="http://schemas.openxmlformats.org/officeDocument/2006/relationships/slideLayout" Target="../slideLayouts/slideLayout53.xml"/><Relationship Id="rId2" Type="http://schemas.openxmlformats.org/officeDocument/2006/relationships/slideLayout" Target="../slideLayouts/slideLayout38.xml"/><Relationship Id="rId16" Type="http://schemas.openxmlformats.org/officeDocument/2006/relationships/slideLayout" Target="../slideLayouts/slideLayout52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5" Type="http://schemas.openxmlformats.org/officeDocument/2006/relationships/slideLayout" Target="../slideLayouts/slideLayout51.xml"/><Relationship Id="rId10" Type="http://schemas.openxmlformats.org/officeDocument/2006/relationships/slideLayout" Target="../slideLayouts/slideLayout46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14" Type="http://schemas.openxmlformats.org/officeDocument/2006/relationships/slideLayout" Target="../slideLayouts/slideLayout5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4639" y="295274"/>
            <a:ext cx="11889564" cy="917575"/>
          </a:xfrm>
          <a:prstGeom prst="rect">
            <a:avLst/>
          </a:prstGeom>
        </p:spPr>
        <p:txBody>
          <a:bodyPr vert="horz" wrap="square" lIns="146304" tIns="91440" rIns="146304" bIns="9144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274640" y="1212851"/>
            <a:ext cx="11887198" cy="2092881"/>
          </a:xfrm>
          <a:prstGeom prst="rect">
            <a:avLst/>
          </a:prstGeom>
        </p:spPr>
        <p:txBody>
          <a:bodyPr vert="horz" wrap="square" lIns="146304" tIns="91440" rIns="146304" bIns="91440" rtlCol="0">
            <a:sp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3" name="Group 2"/>
          <p:cNvGrpSpPr/>
          <p:nvPr userDrawn="1"/>
        </p:nvGrpSpPr>
        <p:grpSpPr>
          <a:xfrm>
            <a:off x="12618967" y="0"/>
            <a:ext cx="952401" cy="5766966"/>
            <a:chOff x="12618967" y="0"/>
            <a:chExt cx="952401" cy="5766966"/>
          </a:xfrm>
        </p:grpSpPr>
        <p:grpSp>
          <p:nvGrpSpPr>
            <p:cNvPr id="18" name="Group 17"/>
            <p:cNvGrpSpPr/>
            <p:nvPr userDrawn="1"/>
          </p:nvGrpSpPr>
          <p:grpSpPr>
            <a:xfrm>
              <a:off x="12618967" y="0"/>
              <a:ext cx="952401" cy="5766966"/>
              <a:chOff x="12618967" y="0"/>
              <a:chExt cx="952401" cy="5766966"/>
            </a:xfrm>
          </p:grpSpPr>
          <p:grpSp>
            <p:nvGrpSpPr>
              <p:cNvPr id="26" name="Group 25"/>
              <p:cNvGrpSpPr/>
              <p:nvPr userDrawn="1"/>
            </p:nvGrpSpPr>
            <p:grpSpPr>
              <a:xfrm rot="5400000">
                <a:off x="11582059" y="1045293"/>
                <a:ext cx="2703052" cy="629236"/>
                <a:chOff x="1586734" y="4543426"/>
                <a:chExt cx="2703052" cy="629236"/>
              </a:xfrm>
            </p:grpSpPr>
            <p:sp>
              <p:nvSpPr>
                <p:cNvPr id="45" name="Rectangle 44"/>
                <p:cNvSpPr/>
                <p:nvPr userDrawn="1"/>
              </p:nvSpPr>
              <p:spPr bwMode="auto">
                <a:xfrm>
                  <a:off x="1586734" y="4543427"/>
                  <a:ext cx="869930" cy="289766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algn="l" defTabSz="932472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500" b="1" kern="1200" baseline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latin typeface="+mn-lt"/>
                      <a:ea typeface="Segoe UI" pitchFamily="34" charset="0"/>
                      <a:cs typeface="Segoe UI" pitchFamily="34" charset="0"/>
                    </a:rPr>
                    <a:t>Blue</a:t>
                  </a:r>
                </a:p>
                <a:p>
                  <a:pPr algn="l" defTabSz="932472" fontAlgn="base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500">
                      <a:gradFill>
                        <a:gsLst>
                          <a:gs pos="2092">
                            <a:srgbClr val="F8F8F8"/>
                          </a:gs>
                          <a:gs pos="10042">
                            <a:srgbClr val="F8F8F8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R:</a:t>
                  </a:r>
                  <a:r>
                    <a:rPr lang="en-US" sz="500" baseline="0">
                      <a:gradFill>
                        <a:gsLst>
                          <a:gs pos="2092">
                            <a:srgbClr val="F8F8F8"/>
                          </a:gs>
                          <a:gs pos="10042">
                            <a:srgbClr val="F8F8F8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0 G:120 B:215</a:t>
                  </a:r>
                  <a:endParaRPr lang="en-US" sz="50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  <p:sp>
              <p:nvSpPr>
                <p:cNvPr id="37" name="Rectangle 36"/>
                <p:cNvSpPr/>
                <p:nvPr userDrawn="1"/>
              </p:nvSpPr>
              <p:spPr bwMode="auto">
                <a:xfrm>
                  <a:off x="3419856" y="4543428"/>
                  <a:ext cx="869930" cy="289766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 defTabSz="932472" fontAlgn="base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500" b="1" kern="1200" baseline="0">
                      <a:gradFill>
                        <a:gsLst>
                          <a:gs pos="7965">
                            <a:srgbClr val="000000"/>
                          </a:gs>
                          <a:gs pos="28319">
                            <a:srgbClr val="000000"/>
                          </a:gs>
                        </a:gsLst>
                        <a:lin ang="5400000" scaled="0"/>
                      </a:gradFill>
                      <a:latin typeface="+mn-lt"/>
                      <a:ea typeface="Segoe UI" pitchFamily="34" charset="0"/>
                      <a:cs typeface="Segoe UI" pitchFamily="34" charset="0"/>
                    </a:rPr>
                    <a:t>Cyan</a:t>
                  </a:r>
                </a:p>
                <a:p>
                  <a:pPr algn="l" defTabSz="932472" fontAlgn="base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500">
                      <a:gradFill>
                        <a:gsLst>
                          <a:gs pos="7965">
                            <a:srgbClr val="000000"/>
                          </a:gs>
                          <a:gs pos="28319">
                            <a:srgbClr val="000000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R:</a:t>
                  </a:r>
                  <a:r>
                    <a:rPr lang="en-US" sz="500" baseline="0">
                      <a:gradFill>
                        <a:gsLst>
                          <a:gs pos="7965">
                            <a:srgbClr val="000000"/>
                          </a:gs>
                          <a:gs pos="28319">
                            <a:srgbClr val="000000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0 G:188 B:242</a:t>
                  </a:r>
                  <a:endParaRPr lang="en-US" sz="500">
                    <a:gradFill>
                      <a:gsLst>
                        <a:gs pos="7965">
                          <a:srgbClr val="000000"/>
                        </a:gs>
                        <a:gs pos="28319">
                          <a:srgbClr val="000000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  <p:sp>
              <p:nvSpPr>
                <p:cNvPr id="41" name="Rectangle 40"/>
                <p:cNvSpPr/>
                <p:nvPr userDrawn="1"/>
              </p:nvSpPr>
              <p:spPr bwMode="auto">
                <a:xfrm>
                  <a:off x="1586734" y="4882896"/>
                  <a:ext cx="869930" cy="289766"/>
                </a:xfrm>
                <a:prstGeom prst="rect">
                  <a:avLst/>
                </a:prstGeom>
                <a:solidFill>
                  <a:srgbClr val="D2D2D2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 defTabSz="932472" fontAlgn="base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500" b="1" kern="1200" baseline="0">
                      <a:gradFill>
                        <a:gsLst>
                          <a:gs pos="92035">
                            <a:srgbClr val="505050"/>
                          </a:gs>
                          <a:gs pos="27000">
                            <a:srgbClr val="505050"/>
                          </a:gs>
                        </a:gsLst>
                        <a:lin ang="5400000" scaled="0"/>
                      </a:gradFill>
                      <a:latin typeface="+mn-lt"/>
                      <a:ea typeface="Segoe UI" pitchFamily="34" charset="0"/>
                      <a:cs typeface="Segoe UI" pitchFamily="34" charset="0"/>
                    </a:rPr>
                    <a:t>Light Gray</a:t>
                  </a:r>
                </a:p>
                <a:p>
                  <a:pPr algn="l" defTabSz="932472" fontAlgn="base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500">
                      <a:gradFill>
                        <a:gsLst>
                          <a:gs pos="92035">
                            <a:srgbClr val="505050"/>
                          </a:gs>
                          <a:gs pos="27000">
                            <a:srgbClr val="505050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R:</a:t>
                  </a:r>
                  <a:r>
                    <a:rPr lang="en-US" sz="500" baseline="0">
                      <a:gradFill>
                        <a:gsLst>
                          <a:gs pos="92035">
                            <a:srgbClr val="505050"/>
                          </a:gs>
                          <a:gs pos="27000">
                            <a:srgbClr val="505050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210 G:210 B:210</a:t>
                  </a:r>
                  <a:endParaRPr lang="en-US" sz="500">
                    <a:gradFill>
                      <a:gsLst>
                        <a:gs pos="92035">
                          <a:srgbClr val="505050"/>
                        </a:gs>
                        <a:gs pos="27000">
                          <a:srgbClr val="505050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  <p:sp>
              <p:nvSpPr>
                <p:cNvPr id="42" name="Rectangle 41"/>
                <p:cNvSpPr/>
                <p:nvPr userDrawn="1"/>
              </p:nvSpPr>
              <p:spPr bwMode="auto">
                <a:xfrm>
                  <a:off x="2505456" y="4543426"/>
                  <a:ext cx="869930" cy="289766"/>
                </a:xfrm>
                <a:prstGeom prst="rect">
                  <a:avLst/>
                </a:prstGeom>
                <a:solidFill>
                  <a:srgbClr val="5C2D91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algn="l" defTabSz="932472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500" b="1" kern="1200" baseline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latin typeface="+mn-lt"/>
                      <a:ea typeface="Segoe UI" pitchFamily="34" charset="0"/>
                      <a:cs typeface="Segoe UI" pitchFamily="34" charset="0"/>
                    </a:rPr>
                    <a:t>Purple</a:t>
                  </a:r>
                </a:p>
                <a:p>
                  <a:pPr algn="l" defTabSz="932472" fontAlgn="base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50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R:92</a:t>
                  </a:r>
                  <a:r>
                    <a:rPr lang="en-US" sz="500" baseline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 G:45 B:145</a:t>
                  </a:r>
                  <a:endParaRPr lang="en-US" sz="50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  <p:sp>
              <p:nvSpPr>
                <p:cNvPr id="43" name="Rectangle 42"/>
                <p:cNvSpPr/>
                <p:nvPr userDrawn="1"/>
              </p:nvSpPr>
              <p:spPr bwMode="auto">
                <a:xfrm>
                  <a:off x="3413144" y="4882896"/>
                  <a:ext cx="869930" cy="289766"/>
                </a:xfrm>
                <a:prstGeom prst="rect">
                  <a:avLst/>
                </a:prstGeom>
                <a:solidFill>
                  <a:srgbClr val="505050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algn="l" defTabSz="932472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500" b="1" kern="1200" baseline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latin typeface="+mn-lt"/>
                      <a:ea typeface="Segoe UI" pitchFamily="34" charset="0"/>
                      <a:cs typeface="Segoe UI" pitchFamily="34" charset="0"/>
                    </a:rPr>
                    <a:t>Dark Gray</a:t>
                  </a:r>
                </a:p>
                <a:p>
                  <a:pPr algn="l" defTabSz="932472" fontAlgn="base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500">
                      <a:gradFill>
                        <a:gsLst>
                          <a:gs pos="2092">
                            <a:srgbClr val="F8F8F8"/>
                          </a:gs>
                          <a:gs pos="10042">
                            <a:srgbClr val="F8F8F8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R:</a:t>
                  </a:r>
                  <a:r>
                    <a:rPr lang="en-US" sz="500" baseline="0">
                      <a:gradFill>
                        <a:gsLst>
                          <a:gs pos="2092">
                            <a:srgbClr val="F8F8F8"/>
                          </a:gs>
                          <a:gs pos="10042">
                            <a:srgbClr val="F8F8F8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80 G:80 B:80</a:t>
                  </a:r>
                  <a:endParaRPr lang="en-US" sz="50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  <p:sp>
              <p:nvSpPr>
                <p:cNvPr id="44" name="Rectangle 43"/>
                <p:cNvSpPr/>
                <p:nvPr userDrawn="1"/>
              </p:nvSpPr>
              <p:spPr bwMode="auto">
                <a:xfrm>
                  <a:off x="2505456" y="4882895"/>
                  <a:ext cx="869930" cy="289766"/>
                </a:xfrm>
                <a:prstGeom prst="rect">
                  <a:avLst/>
                </a:prstGeom>
                <a:solidFill>
                  <a:srgbClr val="737373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algn="l" defTabSz="932472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500" b="1" kern="1200" baseline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latin typeface="+mn-lt"/>
                      <a:ea typeface="Segoe UI" pitchFamily="34" charset="0"/>
                      <a:cs typeface="Segoe UI" pitchFamily="34" charset="0"/>
                    </a:rPr>
                    <a:t>Gray</a:t>
                  </a:r>
                </a:p>
                <a:p>
                  <a:pPr algn="l" defTabSz="932472" fontAlgn="base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500">
                      <a:gradFill>
                        <a:gsLst>
                          <a:gs pos="2092">
                            <a:srgbClr val="F8F8F8"/>
                          </a:gs>
                          <a:gs pos="10042">
                            <a:srgbClr val="F8F8F8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R:</a:t>
                  </a:r>
                  <a:r>
                    <a:rPr lang="en-US" sz="500" baseline="0">
                      <a:gradFill>
                        <a:gsLst>
                          <a:gs pos="2092">
                            <a:srgbClr val="F8F8F8"/>
                          </a:gs>
                          <a:gs pos="10042">
                            <a:srgbClr val="F8F8F8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115 G:115 B:115</a:t>
                  </a:r>
                  <a:endParaRPr lang="en-US" sz="50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</p:grpSp>
          <p:grpSp>
            <p:nvGrpSpPr>
              <p:cNvPr id="27" name="Group 26"/>
              <p:cNvGrpSpPr/>
              <p:nvPr userDrawn="1"/>
            </p:nvGrpSpPr>
            <p:grpSpPr>
              <a:xfrm rot="5400000">
                <a:off x="10970856" y="3489620"/>
                <a:ext cx="3925458" cy="629233"/>
                <a:chOff x="3254158" y="4203959"/>
                <a:chExt cx="3925458" cy="629233"/>
              </a:xfrm>
            </p:grpSpPr>
            <p:sp>
              <p:nvSpPr>
                <p:cNvPr id="33" name="Rectangle 32"/>
                <p:cNvSpPr/>
                <p:nvPr userDrawn="1"/>
              </p:nvSpPr>
              <p:spPr bwMode="auto">
                <a:xfrm>
                  <a:off x="5395286" y="4543426"/>
                  <a:ext cx="869930" cy="289766"/>
                </a:xfrm>
                <a:prstGeom prst="rect">
                  <a:avLst/>
                </a:prstGeom>
                <a:solidFill>
                  <a:srgbClr val="FFB900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algn="l" defTabSz="932472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500" b="1" kern="1200" baseline="0">
                      <a:solidFill>
                        <a:srgbClr val="000000"/>
                      </a:solidFill>
                      <a:latin typeface="+mn-lt"/>
                      <a:ea typeface="Segoe UI" pitchFamily="34" charset="0"/>
                      <a:cs typeface="Segoe UI" pitchFamily="34" charset="0"/>
                    </a:rPr>
                    <a:t>Yellow</a:t>
                  </a:r>
                </a:p>
                <a:p>
                  <a:pPr marL="0" algn="l" defTabSz="932472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500" kern="1200">
                      <a:solidFill>
                        <a:srgbClr val="000000"/>
                      </a:solidFill>
                      <a:latin typeface="+mn-lt"/>
                      <a:ea typeface="Segoe UI" pitchFamily="34" charset="0"/>
                      <a:cs typeface="Segoe UI" pitchFamily="34" charset="0"/>
                    </a:rPr>
                    <a:t>R:255 G:185 B:0</a:t>
                  </a:r>
                </a:p>
              </p:txBody>
            </p:sp>
            <p:sp>
              <p:nvSpPr>
                <p:cNvPr id="34" name="Rectangle 33"/>
                <p:cNvSpPr/>
                <p:nvPr userDrawn="1"/>
              </p:nvSpPr>
              <p:spPr bwMode="auto">
                <a:xfrm>
                  <a:off x="6309686" y="4543426"/>
                  <a:ext cx="869930" cy="289766"/>
                </a:xfrm>
                <a:prstGeom prst="rect">
                  <a:avLst/>
                </a:prstGeom>
                <a:solidFill>
                  <a:srgbClr val="D83B01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algn="l" defTabSz="932472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500" b="1" kern="1200" baseline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latin typeface="+mn-lt"/>
                      <a:ea typeface="Segoe UI" pitchFamily="34" charset="0"/>
                      <a:cs typeface="Segoe UI" pitchFamily="34" charset="0"/>
                    </a:rPr>
                    <a:t>Orange</a:t>
                  </a:r>
                </a:p>
                <a:p>
                  <a:pPr algn="l" defTabSz="932472" fontAlgn="base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500">
                      <a:gradFill>
                        <a:gsLst>
                          <a:gs pos="2092">
                            <a:srgbClr val="F8F8F8"/>
                          </a:gs>
                          <a:gs pos="10042">
                            <a:srgbClr val="F8F8F8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R:</a:t>
                  </a:r>
                  <a:r>
                    <a:rPr lang="en-US" sz="500" baseline="0">
                      <a:gradFill>
                        <a:gsLst>
                          <a:gs pos="2092">
                            <a:srgbClr val="F8F8F8"/>
                          </a:gs>
                          <a:gs pos="10042">
                            <a:srgbClr val="F8F8F8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216 G:59 B:1</a:t>
                  </a:r>
                </a:p>
              </p:txBody>
            </p:sp>
            <p:sp>
              <p:nvSpPr>
                <p:cNvPr id="35" name="Rectangle 34"/>
                <p:cNvSpPr/>
                <p:nvPr userDrawn="1"/>
              </p:nvSpPr>
              <p:spPr bwMode="auto">
                <a:xfrm>
                  <a:off x="3254158" y="4203959"/>
                  <a:ext cx="869930" cy="289766"/>
                </a:xfrm>
                <a:prstGeom prst="rect">
                  <a:avLst/>
                </a:prstGeom>
                <a:solidFill>
                  <a:srgbClr val="008272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algn="l" defTabSz="932472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500" b="1" kern="1200" baseline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latin typeface="+mn-lt"/>
                      <a:ea typeface="Segoe UI" pitchFamily="34" charset="0"/>
                      <a:cs typeface="Segoe UI" pitchFamily="34" charset="0"/>
                    </a:rPr>
                    <a:t>Teal</a:t>
                  </a:r>
                </a:p>
                <a:p>
                  <a:pPr algn="l" defTabSz="932472" fontAlgn="base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500">
                      <a:gradFill>
                        <a:gsLst>
                          <a:gs pos="2092">
                            <a:srgbClr val="F8F8F8"/>
                          </a:gs>
                          <a:gs pos="10042">
                            <a:srgbClr val="F8F8F8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R:0</a:t>
                  </a:r>
                  <a:r>
                    <a:rPr lang="en-US" sz="500" baseline="0">
                      <a:gradFill>
                        <a:gsLst>
                          <a:gs pos="2092">
                            <a:srgbClr val="F8F8F8"/>
                          </a:gs>
                          <a:gs pos="10042">
                            <a:srgbClr val="F8F8F8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 G:130 B:114</a:t>
                  </a:r>
                  <a:endParaRPr lang="en-US" sz="50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</p:grpSp>
          <p:sp>
            <p:nvSpPr>
              <p:cNvPr id="28" name="TextBox 27"/>
              <p:cNvSpPr txBox="1"/>
              <p:nvPr userDrawn="1"/>
            </p:nvSpPr>
            <p:spPr>
              <a:xfrm rot="5400000">
                <a:off x="12988035" y="260168"/>
                <a:ext cx="843501" cy="323165"/>
              </a:xfrm>
              <a:prstGeom prst="rect">
                <a:avLst/>
              </a:prstGeom>
              <a:noFill/>
            </p:spPr>
            <p:txBody>
              <a:bodyPr wrap="none" lIns="0" tIns="91440" rIns="182880" bIns="91440" rtlCol="0">
                <a:spAutoFit/>
              </a:bodyPr>
              <a:lstStyle/>
              <a:p>
                <a:pPr>
                  <a:lnSpc>
                    <a:spcPct val="90000"/>
                  </a:lnSpc>
                  <a:spcAft>
                    <a:spcPts val="600"/>
                  </a:spcAft>
                </a:pPr>
                <a:r>
                  <a:rPr lang="en-US" sz="1000">
                    <a:gradFill>
                      <a:gsLst>
                        <a:gs pos="2917">
                          <a:schemeClr val="tx1"/>
                        </a:gs>
                        <a:gs pos="30000">
                          <a:schemeClr val="tx1"/>
                        </a:gs>
                      </a:gsLst>
                      <a:lin ang="5400000" scaled="0"/>
                    </a:gradFill>
                  </a:rPr>
                  <a:t>Main colors</a:t>
                </a:r>
              </a:p>
            </p:txBody>
          </p:sp>
          <p:sp>
            <p:nvSpPr>
              <p:cNvPr id="32" name="TextBox 31"/>
              <p:cNvSpPr txBox="1"/>
              <p:nvPr userDrawn="1"/>
            </p:nvSpPr>
            <p:spPr>
              <a:xfrm rot="5400000">
                <a:off x="11742070" y="4230580"/>
                <a:ext cx="2656496" cy="323165"/>
              </a:xfrm>
              <a:prstGeom prst="rect">
                <a:avLst/>
              </a:prstGeom>
              <a:noFill/>
            </p:spPr>
            <p:txBody>
              <a:bodyPr wrap="none" lIns="0" tIns="91440" rIns="182880" bIns="91440" rtlCol="0">
                <a:spAutoFit/>
              </a:bodyPr>
              <a:lstStyle/>
              <a:p>
                <a:pPr>
                  <a:lnSpc>
                    <a:spcPct val="90000"/>
                  </a:lnSpc>
                  <a:spcAft>
                    <a:spcPts val="600"/>
                  </a:spcAft>
                </a:pPr>
                <a:r>
                  <a:rPr lang="en-US" sz="1000">
                    <a:gradFill>
                      <a:gsLst>
                        <a:gs pos="2917">
                          <a:schemeClr val="tx1"/>
                        </a:gs>
                        <a:gs pos="30000">
                          <a:schemeClr val="tx1"/>
                        </a:gs>
                      </a:gsLst>
                      <a:lin ang="5400000" scaled="0"/>
                    </a:gradFill>
                  </a:rPr>
                  <a:t>Secondary colors (use only when</a:t>
                </a:r>
                <a:r>
                  <a:rPr lang="en-US" sz="1000" baseline="0">
                    <a:gradFill>
                      <a:gsLst>
                        <a:gs pos="2917">
                          <a:schemeClr val="tx1"/>
                        </a:gs>
                        <a:gs pos="30000">
                          <a:schemeClr val="tx1"/>
                        </a:gs>
                      </a:gsLst>
                      <a:lin ang="5400000" scaled="0"/>
                    </a:gradFill>
                  </a:rPr>
                  <a:t> necessary)</a:t>
                </a:r>
                <a:endParaRPr lang="en-US" sz="100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endParaRPr>
              </a:p>
            </p:txBody>
          </p:sp>
        </p:grpSp>
        <p:sp>
          <p:nvSpPr>
            <p:cNvPr id="19" name="Rectangle 18"/>
            <p:cNvSpPr/>
            <p:nvPr userDrawn="1"/>
          </p:nvSpPr>
          <p:spPr bwMode="auto">
            <a:xfrm rot="5400000">
              <a:off x="12328885" y="3356233"/>
              <a:ext cx="869930" cy="289766"/>
            </a:xfrm>
            <a:prstGeom prst="rect">
              <a:avLst/>
            </a:prstGeom>
            <a:solidFill>
              <a:srgbClr val="00BCF2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 defTabSz="932472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b="1" kern="1200" baseline="0">
                  <a:gradFill>
                    <a:gsLst>
                      <a:gs pos="7965">
                        <a:srgbClr val="000000"/>
                      </a:gs>
                      <a:gs pos="28319">
                        <a:srgbClr val="000000"/>
                      </a:gs>
                    </a:gsLst>
                    <a:lin ang="5400000" scaled="0"/>
                  </a:gradFill>
                  <a:latin typeface="+mn-lt"/>
                  <a:ea typeface="Segoe UI" pitchFamily="34" charset="0"/>
                  <a:cs typeface="Segoe UI" pitchFamily="34" charset="0"/>
                </a:rPr>
                <a:t>Cyan</a:t>
              </a:r>
            </a:p>
            <a:p>
              <a:pPr algn="l" defTabSz="932472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>
                  <a:gradFill>
                    <a:gsLst>
                      <a:gs pos="7965">
                        <a:srgbClr val="000000"/>
                      </a:gs>
                      <a:gs pos="28319">
                        <a:srgbClr val="000000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R:</a:t>
              </a:r>
              <a:r>
                <a:rPr lang="en-US" sz="500" baseline="0">
                  <a:gradFill>
                    <a:gsLst>
                      <a:gs pos="7965">
                        <a:srgbClr val="000000"/>
                      </a:gs>
                      <a:gs pos="28319">
                        <a:srgbClr val="000000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0 G:188 B:242</a:t>
              </a:r>
              <a:endParaRPr lang="en-US" sz="500">
                <a:gradFill>
                  <a:gsLst>
                    <a:gs pos="7965">
                      <a:srgbClr val="000000"/>
                    </a:gs>
                    <a:gs pos="28319">
                      <a:srgbClr val="000000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77F3B45D-96E1-3DC0-8CC2-9EFF6FF1679F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190500" y="190500"/>
            <a:ext cx="4635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General</a:t>
            </a:r>
          </a:p>
        </p:txBody>
      </p:sp>
    </p:spTree>
    <p:extLst>
      <p:ext uri="{BB962C8B-B14F-4D97-AF65-F5344CB8AC3E}">
        <p14:creationId xmlns:p14="http://schemas.microsoft.com/office/powerpoint/2010/main" val="3588427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69" r:id="rId1"/>
    <p:sldLayoutId id="2147484382" r:id="rId2"/>
    <p:sldLayoutId id="2147484384" r:id="rId3"/>
    <p:sldLayoutId id="2147484383" r:id="rId4"/>
    <p:sldLayoutId id="2147484300" r:id="rId5"/>
    <p:sldLayoutId id="2147484318" r:id="rId6"/>
    <p:sldLayoutId id="2147484295" r:id="rId7"/>
    <p:sldLayoutId id="2147484240" r:id="rId8"/>
    <p:sldLayoutId id="2147484296" r:id="rId9"/>
    <p:sldLayoutId id="2147484241" r:id="rId10"/>
    <p:sldLayoutId id="2147484297" r:id="rId11"/>
    <p:sldLayoutId id="2147484244" r:id="rId12"/>
    <p:sldLayoutId id="2147484298" r:id="rId13"/>
    <p:sldLayoutId id="2147484245" r:id="rId14"/>
    <p:sldLayoutId id="2147484247" r:id="rId15"/>
    <p:sldLayoutId id="2147484337" r:id="rId16"/>
    <p:sldLayoutId id="2147484378" r:id="rId17"/>
    <p:sldLayoutId id="2147484249" r:id="rId18"/>
    <p:sldLayoutId id="2147484343" r:id="rId19"/>
    <p:sldLayoutId id="2147484344" r:id="rId20"/>
    <p:sldLayoutId id="2147484301" r:id="rId21"/>
    <p:sldLayoutId id="2147484252" r:id="rId22"/>
    <p:sldLayoutId id="2147484251" r:id="rId23"/>
    <p:sldLayoutId id="2147484254" r:id="rId24"/>
    <p:sldLayoutId id="2147484257" r:id="rId25"/>
    <p:sldLayoutId id="2147484377" r:id="rId26"/>
    <p:sldLayoutId id="2147484392" r:id="rId27"/>
    <p:sldLayoutId id="2147484380" r:id="rId28"/>
    <p:sldLayoutId id="2147484258" r:id="rId29"/>
    <p:sldLayoutId id="2147484260" r:id="rId30"/>
    <p:sldLayoutId id="2147484299" r:id="rId31"/>
    <p:sldLayoutId id="2147484345" r:id="rId32"/>
    <p:sldLayoutId id="2147484263" r:id="rId33"/>
    <p:sldLayoutId id="2147484376" r:id="rId34"/>
    <p:sldLayoutId id="2147484381" r:id="rId35"/>
    <p:sldLayoutId id="2147484385" r:id="rId36"/>
  </p:sldLayoutIdLst>
  <p:transition>
    <p:fade/>
  </p:transition>
  <p:txStyles>
    <p:titleStyle>
      <a:lvl1pPr algn="l" defTabSz="932742" rtl="0" eaLnBrk="1" latinLnBrk="0" hangingPunct="1">
        <a:lnSpc>
          <a:spcPct val="90000"/>
        </a:lnSpc>
        <a:spcBef>
          <a:spcPct val="0"/>
        </a:spcBef>
        <a:buNone/>
        <a:defRPr lang="en-US" sz="4800" b="0" kern="1200" cap="none" spc="-102" baseline="0" dirty="0" smtClean="0">
          <a:ln w="3175">
            <a:noFill/>
          </a:ln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effectLst/>
          <a:latin typeface="+mn-lt"/>
          <a:ea typeface="+mn-ea"/>
          <a:cs typeface="Segoe UI" pitchFamily="34" charset="0"/>
        </a:defRPr>
      </a:lvl1pPr>
    </p:titleStyle>
    <p:bodyStyle>
      <a:lvl1pPr marL="342900" marR="0" indent="-3429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4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1pPr>
      <a:lvl2pPr marL="584200" marR="0" indent="-2413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4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2pPr>
      <a:lvl3pPr marL="8001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3pPr>
      <a:lvl4pPr marL="10287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4pPr>
      <a:lvl5pPr marL="12573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87">
          <p15:clr>
            <a:srgbClr val="5ACBF0"/>
          </p15:clr>
        </p15:guide>
        <p15:guide id="2" pos="173">
          <p15:clr>
            <a:srgbClr val="5ACBF0"/>
          </p15:clr>
        </p15:guide>
        <p15:guide id="3" pos="749">
          <p15:clr>
            <a:srgbClr val="5ACBF0"/>
          </p15:clr>
        </p15:guide>
        <p15:guide id="4" pos="1325">
          <p15:clr>
            <a:srgbClr val="5ACBF0"/>
          </p15:clr>
        </p15:guide>
        <p15:guide id="5" pos="1901">
          <p15:clr>
            <a:srgbClr val="5ACBF0"/>
          </p15:clr>
        </p15:guide>
        <p15:guide id="6" pos="2477">
          <p15:clr>
            <a:srgbClr val="5ACBF0"/>
          </p15:clr>
        </p15:guide>
        <p15:guide id="7" pos="3053">
          <p15:clr>
            <a:srgbClr val="5ACBF0"/>
          </p15:clr>
        </p15:guide>
        <p15:guide id="8" pos="3629">
          <p15:clr>
            <a:srgbClr val="5ACBF0"/>
          </p15:clr>
        </p15:guide>
        <p15:guide id="9" pos="4205">
          <p15:clr>
            <a:srgbClr val="5ACBF0"/>
          </p15:clr>
        </p15:guide>
        <p15:guide id="10" pos="4781">
          <p15:clr>
            <a:srgbClr val="5ACBF0"/>
          </p15:clr>
        </p15:guide>
        <p15:guide id="11" pos="5357">
          <p15:clr>
            <a:srgbClr val="5ACBF0"/>
          </p15:clr>
        </p15:guide>
        <p15:guide id="12" pos="5933">
          <p15:clr>
            <a:srgbClr val="5ACBF0"/>
          </p15:clr>
        </p15:guide>
        <p15:guide id="13" pos="6509">
          <p15:clr>
            <a:srgbClr val="5ACBF0"/>
          </p15:clr>
        </p15:guide>
        <p15:guide id="14" pos="7085">
          <p15:clr>
            <a:srgbClr val="5ACBF0"/>
          </p15:clr>
        </p15:guide>
        <p15:guide id="15" pos="7661">
          <p15:clr>
            <a:srgbClr val="5ACBF0"/>
          </p15:clr>
        </p15:guide>
        <p15:guide id="16" pos="288">
          <p15:clr>
            <a:srgbClr val="C35EA4"/>
          </p15:clr>
        </p15:guide>
        <p15:guide id="17" pos="7546">
          <p15:clr>
            <a:srgbClr val="C35EA4"/>
          </p15:clr>
        </p15:guide>
        <p15:guide id="18" orient="horz" pos="763">
          <p15:clr>
            <a:srgbClr val="5ACBF0"/>
          </p15:clr>
        </p15:guide>
        <p15:guide id="19" orient="horz" pos="1339">
          <p15:clr>
            <a:srgbClr val="5ACBF0"/>
          </p15:clr>
        </p15:guide>
        <p15:guide id="20" orient="horz" pos="1915">
          <p15:clr>
            <a:srgbClr val="5ACBF0"/>
          </p15:clr>
        </p15:guide>
        <p15:guide id="21" orient="horz" pos="2491">
          <p15:clr>
            <a:srgbClr val="5ACBF0"/>
          </p15:clr>
        </p15:guide>
        <p15:guide id="22" orient="horz" pos="3067">
          <p15:clr>
            <a:srgbClr val="5ACBF0"/>
          </p15:clr>
        </p15:guide>
        <p15:guide id="23" orient="horz" pos="3643">
          <p15:clr>
            <a:srgbClr val="5ACBF0"/>
          </p15:clr>
        </p15:guide>
        <p15:guide id="24" orient="horz" pos="4219">
          <p15:clr>
            <a:srgbClr val="5ACBF0"/>
          </p15:clr>
        </p15:guide>
        <p15:guide id="25" orient="horz" pos="302">
          <p15:clr>
            <a:srgbClr val="C35EA4"/>
          </p15:clr>
        </p15:guide>
        <p15:guide id="26" orient="horz" pos="4104">
          <p15:clr>
            <a:srgbClr val="C35EA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lt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4639" y="295274"/>
            <a:ext cx="11889564" cy="917575"/>
          </a:xfrm>
          <a:prstGeom prst="rect">
            <a:avLst/>
          </a:prstGeom>
        </p:spPr>
        <p:txBody>
          <a:bodyPr vert="horz" wrap="square" lIns="146304" tIns="91440" rIns="146304" bIns="9144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274640" y="1212851"/>
            <a:ext cx="11887198" cy="2092881"/>
          </a:xfrm>
          <a:prstGeom prst="rect">
            <a:avLst/>
          </a:prstGeom>
        </p:spPr>
        <p:txBody>
          <a:bodyPr vert="horz" wrap="square" lIns="146304" tIns="91440" rIns="146304" bIns="91440" rtlCol="0">
            <a:spAutoFit/>
          </a:bodyPr>
          <a:lstStyle/>
          <a:p>
            <a:pPr marL="342900" marR="0" lvl="0" indent="-3429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</a:pPr>
            <a:r>
              <a:rPr lang="en-US"/>
              <a:t>Click to edit Master text styles</a:t>
            </a:r>
          </a:p>
          <a:p>
            <a:pPr marL="584200" marR="0" lvl="1" indent="-2413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</a:pPr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64" name="Group 63"/>
          <p:cNvGrpSpPr/>
          <p:nvPr userDrawn="1"/>
        </p:nvGrpSpPr>
        <p:grpSpPr>
          <a:xfrm>
            <a:off x="12618967" y="0"/>
            <a:ext cx="952401" cy="5766966"/>
            <a:chOff x="12618967" y="0"/>
            <a:chExt cx="952401" cy="5766966"/>
          </a:xfrm>
        </p:grpSpPr>
        <p:grpSp>
          <p:nvGrpSpPr>
            <p:cNvPr id="65" name="Group 64"/>
            <p:cNvGrpSpPr/>
            <p:nvPr userDrawn="1"/>
          </p:nvGrpSpPr>
          <p:grpSpPr>
            <a:xfrm>
              <a:off x="12618967" y="0"/>
              <a:ext cx="952401" cy="5766966"/>
              <a:chOff x="12618967" y="0"/>
              <a:chExt cx="952401" cy="5766966"/>
            </a:xfrm>
          </p:grpSpPr>
          <p:grpSp>
            <p:nvGrpSpPr>
              <p:cNvPr id="67" name="Group 66"/>
              <p:cNvGrpSpPr/>
              <p:nvPr userDrawn="1"/>
            </p:nvGrpSpPr>
            <p:grpSpPr>
              <a:xfrm rot="5400000">
                <a:off x="11582059" y="1045293"/>
                <a:ext cx="2703052" cy="629236"/>
                <a:chOff x="1586734" y="4543426"/>
                <a:chExt cx="2703052" cy="629236"/>
              </a:xfrm>
            </p:grpSpPr>
            <p:sp>
              <p:nvSpPr>
                <p:cNvPr id="74" name="Rectangle 73"/>
                <p:cNvSpPr/>
                <p:nvPr userDrawn="1"/>
              </p:nvSpPr>
              <p:spPr bwMode="auto">
                <a:xfrm>
                  <a:off x="1586734" y="4543427"/>
                  <a:ext cx="869930" cy="289766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algn="l" defTabSz="932472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500" b="1" kern="1200" baseline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latin typeface="+mn-lt"/>
                      <a:ea typeface="Segoe UI" pitchFamily="34" charset="0"/>
                      <a:cs typeface="Segoe UI" pitchFamily="34" charset="0"/>
                    </a:rPr>
                    <a:t>Blue</a:t>
                  </a:r>
                </a:p>
                <a:p>
                  <a:pPr algn="l" defTabSz="932472" fontAlgn="base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500">
                      <a:gradFill>
                        <a:gsLst>
                          <a:gs pos="2092">
                            <a:srgbClr val="F8F8F8"/>
                          </a:gs>
                          <a:gs pos="10042">
                            <a:srgbClr val="F8F8F8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R:</a:t>
                  </a:r>
                  <a:r>
                    <a:rPr lang="en-US" sz="500" baseline="0">
                      <a:gradFill>
                        <a:gsLst>
                          <a:gs pos="2092">
                            <a:srgbClr val="F8F8F8"/>
                          </a:gs>
                          <a:gs pos="10042">
                            <a:srgbClr val="F8F8F8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0 G:120 B:215</a:t>
                  </a:r>
                  <a:endParaRPr lang="en-US" sz="50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  <p:sp>
              <p:nvSpPr>
                <p:cNvPr id="75" name="Rectangle 74"/>
                <p:cNvSpPr/>
                <p:nvPr userDrawn="1"/>
              </p:nvSpPr>
              <p:spPr bwMode="auto">
                <a:xfrm>
                  <a:off x="3419856" y="4543428"/>
                  <a:ext cx="869930" cy="289766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 defTabSz="932472" fontAlgn="base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500" b="1" kern="1200" baseline="0">
                      <a:gradFill>
                        <a:gsLst>
                          <a:gs pos="7965">
                            <a:srgbClr val="000000"/>
                          </a:gs>
                          <a:gs pos="28319">
                            <a:srgbClr val="000000"/>
                          </a:gs>
                        </a:gsLst>
                        <a:lin ang="5400000" scaled="0"/>
                      </a:gradFill>
                      <a:latin typeface="+mn-lt"/>
                      <a:ea typeface="Segoe UI" pitchFamily="34" charset="0"/>
                      <a:cs typeface="Segoe UI" pitchFamily="34" charset="0"/>
                    </a:rPr>
                    <a:t>Cyan</a:t>
                  </a:r>
                </a:p>
                <a:p>
                  <a:pPr algn="l" defTabSz="932472" fontAlgn="base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500">
                      <a:gradFill>
                        <a:gsLst>
                          <a:gs pos="7965">
                            <a:srgbClr val="000000"/>
                          </a:gs>
                          <a:gs pos="28319">
                            <a:srgbClr val="000000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R:</a:t>
                  </a:r>
                  <a:r>
                    <a:rPr lang="en-US" sz="500" baseline="0">
                      <a:gradFill>
                        <a:gsLst>
                          <a:gs pos="7965">
                            <a:srgbClr val="000000"/>
                          </a:gs>
                          <a:gs pos="28319">
                            <a:srgbClr val="000000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0 G:188 B:242</a:t>
                  </a:r>
                  <a:endParaRPr lang="en-US" sz="500">
                    <a:gradFill>
                      <a:gsLst>
                        <a:gs pos="7965">
                          <a:srgbClr val="000000"/>
                        </a:gs>
                        <a:gs pos="28319">
                          <a:srgbClr val="000000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  <p:sp>
              <p:nvSpPr>
                <p:cNvPr id="76" name="Rectangle 75"/>
                <p:cNvSpPr/>
                <p:nvPr userDrawn="1"/>
              </p:nvSpPr>
              <p:spPr bwMode="auto">
                <a:xfrm>
                  <a:off x="1586734" y="4882896"/>
                  <a:ext cx="869930" cy="289766"/>
                </a:xfrm>
                <a:prstGeom prst="rect">
                  <a:avLst/>
                </a:prstGeom>
                <a:solidFill>
                  <a:srgbClr val="D2D2D2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 defTabSz="932472" fontAlgn="base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500" b="1" kern="1200" baseline="0">
                      <a:gradFill>
                        <a:gsLst>
                          <a:gs pos="92035">
                            <a:srgbClr val="505050"/>
                          </a:gs>
                          <a:gs pos="27000">
                            <a:srgbClr val="505050"/>
                          </a:gs>
                        </a:gsLst>
                        <a:lin ang="5400000" scaled="0"/>
                      </a:gradFill>
                      <a:latin typeface="+mn-lt"/>
                      <a:ea typeface="Segoe UI" pitchFamily="34" charset="0"/>
                      <a:cs typeface="Segoe UI" pitchFamily="34" charset="0"/>
                    </a:rPr>
                    <a:t>Light Gray</a:t>
                  </a:r>
                </a:p>
                <a:p>
                  <a:pPr algn="l" defTabSz="932472" fontAlgn="base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500">
                      <a:gradFill>
                        <a:gsLst>
                          <a:gs pos="92035">
                            <a:srgbClr val="505050"/>
                          </a:gs>
                          <a:gs pos="27000">
                            <a:srgbClr val="505050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R:</a:t>
                  </a:r>
                  <a:r>
                    <a:rPr lang="en-US" sz="500" baseline="0">
                      <a:gradFill>
                        <a:gsLst>
                          <a:gs pos="92035">
                            <a:srgbClr val="505050"/>
                          </a:gs>
                          <a:gs pos="27000">
                            <a:srgbClr val="505050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210 G:210 B:210</a:t>
                  </a:r>
                  <a:endParaRPr lang="en-US" sz="500">
                    <a:gradFill>
                      <a:gsLst>
                        <a:gs pos="92035">
                          <a:srgbClr val="505050"/>
                        </a:gs>
                        <a:gs pos="27000">
                          <a:srgbClr val="505050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  <p:sp>
              <p:nvSpPr>
                <p:cNvPr id="77" name="Rectangle 76"/>
                <p:cNvSpPr/>
                <p:nvPr userDrawn="1"/>
              </p:nvSpPr>
              <p:spPr bwMode="auto">
                <a:xfrm>
                  <a:off x="2505456" y="4543426"/>
                  <a:ext cx="869930" cy="289766"/>
                </a:xfrm>
                <a:prstGeom prst="rect">
                  <a:avLst/>
                </a:prstGeom>
                <a:solidFill>
                  <a:srgbClr val="5C2D91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algn="l" defTabSz="932472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500" b="1" kern="1200" baseline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latin typeface="+mn-lt"/>
                      <a:ea typeface="Segoe UI" pitchFamily="34" charset="0"/>
                      <a:cs typeface="Segoe UI" pitchFamily="34" charset="0"/>
                    </a:rPr>
                    <a:t>Purple</a:t>
                  </a:r>
                </a:p>
                <a:p>
                  <a:pPr algn="l" defTabSz="932472" fontAlgn="base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50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R:92</a:t>
                  </a:r>
                  <a:r>
                    <a:rPr lang="en-US" sz="500" baseline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 G:45 B:145</a:t>
                  </a:r>
                  <a:endParaRPr lang="en-US" sz="50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  <p:sp>
              <p:nvSpPr>
                <p:cNvPr id="78" name="Rectangle 77"/>
                <p:cNvSpPr/>
                <p:nvPr userDrawn="1"/>
              </p:nvSpPr>
              <p:spPr bwMode="auto">
                <a:xfrm>
                  <a:off x="3413144" y="4882896"/>
                  <a:ext cx="869930" cy="289766"/>
                </a:xfrm>
                <a:prstGeom prst="rect">
                  <a:avLst/>
                </a:prstGeom>
                <a:solidFill>
                  <a:srgbClr val="505050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algn="l" defTabSz="932472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500" b="1" kern="1200" baseline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latin typeface="+mn-lt"/>
                      <a:ea typeface="Segoe UI" pitchFamily="34" charset="0"/>
                      <a:cs typeface="Segoe UI" pitchFamily="34" charset="0"/>
                    </a:rPr>
                    <a:t>Dark Gray</a:t>
                  </a:r>
                </a:p>
                <a:p>
                  <a:pPr algn="l" defTabSz="932472" fontAlgn="base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500">
                      <a:gradFill>
                        <a:gsLst>
                          <a:gs pos="2092">
                            <a:srgbClr val="F8F8F8"/>
                          </a:gs>
                          <a:gs pos="10042">
                            <a:srgbClr val="F8F8F8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R:</a:t>
                  </a:r>
                  <a:r>
                    <a:rPr lang="en-US" sz="500" baseline="0">
                      <a:gradFill>
                        <a:gsLst>
                          <a:gs pos="2092">
                            <a:srgbClr val="F8F8F8"/>
                          </a:gs>
                          <a:gs pos="10042">
                            <a:srgbClr val="F8F8F8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80 G:80 B:80</a:t>
                  </a:r>
                  <a:endParaRPr lang="en-US" sz="50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  <p:sp>
              <p:nvSpPr>
                <p:cNvPr id="79" name="Rectangle 78"/>
                <p:cNvSpPr/>
                <p:nvPr userDrawn="1"/>
              </p:nvSpPr>
              <p:spPr bwMode="auto">
                <a:xfrm>
                  <a:off x="2505456" y="4882895"/>
                  <a:ext cx="869930" cy="289766"/>
                </a:xfrm>
                <a:prstGeom prst="rect">
                  <a:avLst/>
                </a:prstGeom>
                <a:solidFill>
                  <a:srgbClr val="737373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algn="l" defTabSz="932472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500" b="1" kern="1200" baseline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latin typeface="+mn-lt"/>
                      <a:ea typeface="Segoe UI" pitchFamily="34" charset="0"/>
                      <a:cs typeface="Segoe UI" pitchFamily="34" charset="0"/>
                    </a:rPr>
                    <a:t>Gray</a:t>
                  </a:r>
                </a:p>
                <a:p>
                  <a:pPr algn="l" defTabSz="932472" fontAlgn="base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500">
                      <a:gradFill>
                        <a:gsLst>
                          <a:gs pos="2092">
                            <a:srgbClr val="F8F8F8"/>
                          </a:gs>
                          <a:gs pos="10042">
                            <a:srgbClr val="F8F8F8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R:</a:t>
                  </a:r>
                  <a:r>
                    <a:rPr lang="en-US" sz="500" baseline="0">
                      <a:gradFill>
                        <a:gsLst>
                          <a:gs pos="2092">
                            <a:srgbClr val="F8F8F8"/>
                          </a:gs>
                          <a:gs pos="10042">
                            <a:srgbClr val="F8F8F8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115 G:115 B:115</a:t>
                  </a:r>
                  <a:endParaRPr lang="en-US" sz="50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</p:grpSp>
          <p:grpSp>
            <p:nvGrpSpPr>
              <p:cNvPr id="68" name="Group 67"/>
              <p:cNvGrpSpPr/>
              <p:nvPr userDrawn="1"/>
            </p:nvGrpSpPr>
            <p:grpSpPr>
              <a:xfrm rot="5400000">
                <a:off x="10970856" y="3489620"/>
                <a:ext cx="3925458" cy="629233"/>
                <a:chOff x="3254158" y="4203959"/>
                <a:chExt cx="3925458" cy="629233"/>
              </a:xfrm>
            </p:grpSpPr>
            <p:sp>
              <p:nvSpPr>
                <p:cNvPr id="71" name="Rectangle 70"/>
                <p:cNvSpPr/>
                <p:nvPr userDrawn="1"/>
              </p:nvSpPr>
              <p:spPr bwMode="auto">
                <a:xfrm>
                  <a:off x="5395286" y="4543426"/>
                  <a:ext cx="869930" cy="289766"/>
                </a:xfrm>
                <a:prstGeom prst="rect">
                  <a:avLst/>
                </a:prstGeom>
                <a:solidFill>
                  <a:srgbClr val="FFB900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algn="l" defTabSz="932472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500" b="1" kern="1200" baseline="0">
                      <a:solidFill>
                        <a:srgbClr val="000000"/>
                      </a:solidFill>
                      <a:latin typeface="+mn-lt"/>
                      <a:ea typeface="Segoe UI" pitchFamily="34" charset="0"/>
                      <a:cs typeface="Segoe UI" pitchFamily="34" charset="0"/>
                    </a:rPr>
                    <a:t>Yellow</a:t>
                  </a:r>
                </a:p>
                <a:p>
                  <a:pPr marL="0" algn="l" defTabSz="932472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500" kern="1200">
                      <a:solidFill>
                        <a:srgbClr val="000000"/>
                      </a:solidFill>
                      <a:latin typeface="+mn-lt"/>
                      <a:ea typeface="Segoe UI" pitchFamily="34" charset="0"/>
                      <a:cs typeface="Segoe UI" pitchFamily="34" charset="0"/>
                    </a:rPr>
                    <a:t>R:255 G:185 B:0</a:t>
                  </a:r>
                </a:p>
              </p:txBody>
            </p:sp>
            <p:sp>
              <p:nvSpPr>
                <p:cNvPr id="72" name="Rectangle 71"/>
                <p:cNvSpPr/>
                <p:nvPr userDrawn="1"/>
              </p:nvSpPr>
              <p:spPr bwMode="auto">
                <a:xfrm>
                  <a:off x="6309686" y="4543426"/>
                  <a:ext cx="869930" cy="289766"/>
                </a:xfrm>
                <a:prstGeom prst="rect">
                  <a:avLst/>
                </a:prstGeom>
                <a:solidFill>
                  <a:srgbClr val="D83B01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algn="l" defTabSz="932472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500" b="1" kern="1200" baseline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latin typeface="+mn-lt"/>
                      <a:ea typeface="Segoe UI" pitchFamily="34" charset="0"/>
                      <a:cs typeface="Segoe UI" pitchFamily="34" charset="0"/>
                    </a:rPr>
                    <a:t>Orange</a:t>
                  </a:r>
                </a:p>
                <a:p>
                  <a:pPr algn="l" defTabSz="932472" fontAlgn="base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500">
                      <a:gradFill>
                        <a:gsLst>
                          <a:gs pos="2092">
                            <a:srgbClr val="F8F8F8"/>
                          </a:gs>
                          <a:gs pos="10042">
                            <a:srgbClr val="F8F8F8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R:</a:t>
                  </a:r>
                  <a:r>
                    <a:rPr lang="en-US" sz="500" baseline="0">
                      <a:gradFill>
                        <a:gsLst>
                          <a:gs pos="2092">
                            <a:srgbClr val="F8F8F8"/>
                          </a:gs>
                          <a:gs pos="10042">
                            <a:srgbClr val="F8F8F8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216 G:59 B:1</a:t>
                  </a:r>
                </a:p>
              </p:txBody>
            </p:sp>
            <p:sp>
              <p:nvSpPr>
                <p:cNvPr id="73" name="Rectangle 72"/>
                <p:cNvSpPr/>
                <p:nvPr userDrawn="1"/>
              </p:nvSpPr>
              <p:spPr bwMode="auto">
                <a:xfrm>
                  <a:off x="3254158" y="4203959"/>
                  <a:ext cx="869930" cy="289766"/>
                </a:xfrm>
                <a:prstGeom prst="rect">
                  <a:avLst/>
                </a:prstGeom>
                <a:solidFill>
                  <a:srgbClr val="008272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algn="l" defTabSz="932472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500" b="1" kern="1200" baseline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latin typeface="+mn-lt"/>
                      <a:ea typeface="Segoe UI" pitchFamily="34" charset="0"/>
                      <a:cs typeface="Segoe UI" pitchFamily="34" charset="0"/>
                    </a:rPr>
                    <a:t>Teal</a:t>
                  </a:r>
                </a:p>
                <a:p>
                  <a:pPr algn="l" defTabSz="932472" fontAlgn="base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500">
                      <a:gradFill>
                        <a:gsLst>
                          <a:gs pos="2092">
                            <a:srgbClr val="F8F8F8"/>
                          </a:gs>
                          <a:gs pos="10042">
                            <a:srgbClr val="F8F8F8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R:0</a:t>
                  </a:r>
                  <a:r>
                    <a:rPr lang="en-US" sz="500" baseline="0">
                      <a:gradFill>
                        <a:gsLst>
                          <a:gs pos="2092">
                            <a:srgbClr val="F8F8F8"/>
                          </a:gs>
                          <a:gs pos="10042">
                            <a:srgbClr val="F8F8F8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 G:130 B:114</a:t>
                  </a:r>
                  <a:endParaRPr lang="en-US" sz="50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</p:grpSp>
          <p:sp>
            <p:nvSpPr>
              <p:cNvPr id="69" name="TextBox 68"/>
              <p:cNvSpPr txBox="1"/>
              <p:nvPr userDrawn="1"/>
            </p:nvSpPr>
            <p:spPr>
              <a:xfrm rot="5400000">
                <a:off x="12988035" y="260168"/>
                <a:ext cx="843501" cy="323165"/>
              </a:xfrm>
              <a:prstGeom prst="rect">
                <a:avLst/>
              </a:prstGeom>
              <a:noFill/>
            </p:spPr>
            <p:txBody>
              <a:bodyPr wrap="none" lIns="0" tIns="91440" rIns="182880" bIns="91440" rtlCol="0">
                <a:spAutoFit/>
              </a:bodyPr>
              <a:lstStyle/>
              <a:p>
                <a:pPr>
                  <a:lnSpc>
                    <a:spcPct val="90000"/>
                  </a:lnSpc>
                  <a:spcAft>
                    <a:spcPts val="600"/>
                  </a:spcAft>
                </a:pPr>
                <a:r>
                  <a:rPr lang="en-US" sz="1000">
                    <a:solidFill>
                      <a:schemeClr val="bg1"/>
                    </a:solidFill>
                  </a:rPr>
                  <a:t>Main colors</a:t>
                </a:r>
              </a:p>
            </p:txBody>
          </p:sp>
          <p:sp>
            <p:nvSpPr>
              <p:cNvPr id="70" name="TextBox 69"/>
              <p:cNvSpPr txBox="1"/>
              <p:nvPr userDrawn="1"/>
            </p:nvSpPr>
            <p:spPr>
              <a:xfrm rot="5400000">
                <a:off x="11742070" y="4230580"/>
                <a:ext cx="2656496" cy="323165"/>
              </a:xfrm>
              <a:prstGeom prst="rect">
                <a:avLst/>
              </a:prstGeom>
              <a:noFill/>
            </p:spPr>
            <p:txBody>
              <a:bodyPr wrap="none" lIns="0" tIns="91440" rIns="182880" bIns="91440" rtlCol="0">
                <a:spAutoFit/>
              </a:bodyPr>
              <a:lstStyle/>
              <a:p>
                <a:pPr>
                  <a:lnSpc>
                    <a:spcPct val="90000"/>
                  </a:lnSpc>
                  <a:spcAft>
                    <a:spcPts val="600"/>
                  </a:spcAft>
                </a:pPr>
                <a:r>
                  <a:rPr lang="en-US" sz="1000">
                    <a:solidFill>
                      <a:schemeClr val="bg1"/>
                    </a:solidFill>
                  </a:rPr>
                  <a:t>Secondary colors (use only when</a:t>
                </a:r>
                <a:r>
                  <a:rPr lang="en-US" sz="1000" baseline="0">
                    <a:solidFill>
                      <a:schemeClr val="bg1"/>
                    </a:solidFill>
                  </a:rPr>
                  <a:t> necessary)</a:t>
                </a:r>
                <a:endParaRPr lang="en-US" sz="100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66" name="Rectangle 65"/>
            <p:cNvSpPr/>
            <p:nvPr userDrawn="1"/>
          </p:nvSpPr>
          <p:spPr bwMode="auto">
            <a:xfrm rot="5400000">
              <a:off x="12328885" y="3356233"/>
              <a:ext cx="869930" cy="289766"/>
            </a:xfrm>
            <a:prstGeom prst="rect">
              <a:avLst/>
            </a:prstGeom>
            <a:solidFill>
              <a:srgbClr val="00BCF2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 defTabSz="932472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b="1" kern="1200" baseline="0">
                  <a:gradFill>
                    <a:gsLst>
                      <a:gs pos="7965">
                        <a:srgbClr val="000000"/>
                      </a:gs>
                      <a:gs pos="28319">
                        <a:srgbClr val="000000"/>
                      </a:gs>
                    </a:gsLst>
                    <a:lin ang="5400000" scaled="0"/>
                  </a:gradFill>
                  <a:latin typeface="+mn-lt"/>
                  <a:ea typeface="Segoe UI" pitchFamily="34" charset="0"/>
                  <a:cs typeface="Segoe UI" pitchFamily="34" charset="0"/>
                </a:rPr>
                <a:t>Cyan</a:t>
              </a:r>
            </a:p>
            <a:p>
              <a:pPr algn="l" defTabSz="932472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>
                  <a:gradFill>
                    <a:gsLst>
                      <a:gs pos="7965">
                        <a:srgbClr val="000000"/>
                      </a:gs>
                      <a:gs pos="28319">
                        <a:srgbClr val="000000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R:</a:t>
              </a:r>
              <a:r>
                <a:rPr lang="en-US" sz="500" baseline="0">
                  <a:gradFill>
                    <a:gsLst>
                      <a:gs pos="7965">
                        <a:srgbClr val="000000"/>
                      </a:gs>
                      <a:gs pos="28319">
                        <a:srgbClr val="000000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0 G:188 B:242</a:t>
              </a:r>
              <a:endParaRPr lang="en-US" sz="500">
                <a:gradFill>
                  <a:gsLst>
                    <a:gs pos="7965">
                      <a:srgbClr val="000000"/>
                    </a:gs>
                    <a:gs pos="28319">
                      <a:srgbClr val="000000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C0F80637-0436-2254-AF64-953C06C8345A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190500" y="190500"/>
            <a:ext cx="4635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General</a:t>
            </a:r>
          </a:p>
        </p:txBody>
      </p:sp>
    </p:spTree>
    <p:extLst>
      <p:ext uri="{BB962C8B-B14F-4D97-AF65-F5344CB8AC3E}">
        <p14:creationId xmlns:p14="http://schemas.microsoft.com/office/powerpoint/2010/main" val="346012077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338" r:id="rId1"/>
    <p:sldLayoutId id="2147484311" r:id="rId2"/>
    <p:sldLayoutId id="2147484312" r:id="rId3"/>
    <p:sldLayoutId id="2147484313" r:id="rId4"/>
    <p:sldLayoutId id="2147484314" r:id="rId5"/>
    <p:sldLayoutId id="2147484315" r:id="rId6"/>
    <p:sldLayoutId id="2147484316" r:id="rId7"/>
    <p:sldLayoutId id="2147484327" r:id="rId8"/>
    <p:sldLayoutId id="2147484328" r:id="rId9"/>
    <p:sldLayoutId id="2147484329" r:id="rId10"/>
    <p:sldLayoutId id="2147484330" r:id="rId11"/>
    <p:sldLayoutId id="2147484331" r:id="rId12"/>
    <p:sldLayoutId id="2147484317" r:id="rId13"/>
    <p:sldLayoutId id="2147484332" r:id="rId14"/>
    <p:sldLayoutId id="2147484333" r:id="rId15"/>
    <p:sldLayoutId id="2147484334" r:id="rId16"/>
    <p:sldLayoutId id="2147484346" r:id="rId17"/>
    <p:sldLayoutId id="2147484336" r:id="rId18"/>
  </p:sldLayoutIdLst>
  <p:transition>
    <p:fade/>
  </p:transition>
  <p:txStyles>
    <p:titleStyle>
      <a:lvl1pPr algn="l" defTabSz="932742" rtl="0" eaLnBrk="1" latinLnBrk="0" hangingPunct="1">
        <a:lnSpc>
          <a:spcPct val="90000"/>
        </a:lnSpc>
        <a:spcBef>
          <a:spcPct val="0"/>
        </a:spcBef>
        <a:buNone/>
        <a:defRPr lang="en-US" sz="4800" b="0" kern="1200" cap="none" spc="-102" baseline="0" dirty="0" smtClean="0">
          <a:ln w="3175">
            <a:noFill/>
          </a:ln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effectLst/>
          <a:latin typeface="+mn-lt"/>
          <a:ea typeface="+mn-ea"/>
          <a:cs typeface="Segoe UI" pitchFamily="34" charset="0"/>
        </a:defRPr>
      </a:lvl1pPr>
    </p:titleStyle>
    <p:bodyStyle>
      <a:lvl1pPr marL="342900" marR="0" indent="-3429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lang="en-US" sz="4000" kern="1200" spc="0" baseline="0" dirty="0" smtClean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1pPr>
      <a:lvl2pPr marL="584200" marR="0" indent="-2413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lang="en-US" sz="2400" kern="1200" spc="0" baseline="0" dirty="0" smtClean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Segoe UI" panose="020B0502040204020203" pitchFamily="34" charset="0"/>
        </a:defRPr>
      </a:lvl2pPr>
      <a:lvl3pPr marL="8001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Segoe UI" panose="020B0502040204020203" pitchFamily="34" charset="0"/>
        </a:defRPr>
      </a:lvl3pPr>
      <a:lvl4pPr marL="10287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Segoe UI" panose="020B0502040204020203" pitchFamily="34" charset="0"/>
        </a:defRPr>
      </a:lvl4pPr>
      <a:lvl5pPr marL="12573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Segoe UI" panose="020B0502040204020203" pitchFamily="34" charset="0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87">
          <p15:clr>
            <a:srgbClr val="5ACBF0"/>
          </p15:clr>
        </p15:guide>
        <p15:guide id="2" pos="173">
          <p15:clr>
            <a:srgbClr val="5ACBF0"/>
          </p15:clr>
        </p15:guide>
        <p15:guide id="3" pos="749">
          <p15:clr>
            <a:srgbClr val="5ACBF0"/>
          </p15:clr>
        </p15:guide>
        <p15:guide id="4" pos="1325">
          <p15:clr>
            <a:srgbClr val="5ACBF0"/>
          </p15:clr>
        </p15:guide>
        <p15:guide id="5" pos="1901">
          <p15:clr>
            <a:srgbClr val="5ACBF0"/>
          </p15:clr>
        </p15:guide>
        <p15:guide id="6" pos="2477">
          <p15:clr>
            <a:srgbClr val="5ACBF0"/>
          </p15:clr>
        </p15:guide>
        <p15:guide id="7" pos="3053">
          <p15:clr>
            <a:srgbClr val="5ACBF0"/>
          </p15:clr>
        </p15:guide>
        <p15:guide id="8" pos="3629">
          <p15:clr>
            <a:srgbClr val="5ACBF0"/>
          </p15:clr>
        </p15:guide>
        <p15:guide id="9" pos="4205">
          <p15:clr>
            <a:srgbClr val="5ACBF0"/>
          </p15:clr>
        </p15:guide>
        <p15:guide id="10" pos="4781">
          <p15:clr>
            <a:srgbClr val="5ACBF0"/>
          </p15:clr>
        </p15:guide>
        <p15:guide id="11" pos="5357">
          <p15:clr>
            <a:srgbClr val="5ACBF0"/>
          </p15:clr>
        </p15:guide>
        <p15:guide id="12" pos="5933">
          <p15:clr>
            <a:srgbClr val="5ACBF0"/>
          </p15:clr>
        </p15:guide>
        <p15:guide id="13" pos="6509">
          <p15:clr>
            <a:srgbClr val="5ACBF0"/>
          </p15:clr>
        </p15:guide>
        <p15:guide id="14" pos="7085">
          <p15:clr>
            <a:srgbClr val="5ACBF0"/>
          </p15:clr>
        </p15:guide>
        <p15:guide id="15" pos="7661">
          <p15:clr>
            <a:srgbClr val="5ACBF0"/>
          </p15:clr>
        </p15:guide>
        <p15:guide id="16" pos="288">
          <p15:clr>
            <a:srgbClr val="C35EA4"/>
          </p15:clr>
        </p15:guide>
        <p15:guide id="17" pos="7546">
          <p15:clr>
            <a:srgbClr val="C35EA4"/>
          </p15:clr>
        </p15:guide>
        <p15:guide id="18" orient="horz" pos="763">
          <p15:clr>
            <a:srgbClr val="5ACBF0"/>
          </p15:clr>
        </p15:guide>
        <p15:guide id="19" orient="horz" pos="1339">
          <p15:clr>
            <a:srgbClr val="5ACBF0"/>
          </p15:clr>
        </p15:guide>
        <p15:guide id="20" orient="horz" pos="1915">
          <p15:clr>
            <a:srgbClr val="5ACBF0"/>
          </p15:clr>
        </p15:guide>
        <p15:guide id="21" orient="horz" pos="2491">
          <p15:clr>
            <a:srgbClr val="5ACBF0"/>
          </p15:clr>
        </p15:guide>
        <p15:guide id="22" orient="horz" pos="3067">
          <p15:clr>
            <a:srgbClr val="5ACBF0"/>
          </p15:clr>
        </p15:guide>
        <p15:guide id="23" orient="horz" pos="3643">
          <p15:clr>
            <a:srgbClr val="5ACBF0"/>
          </p15:clr>
        </p15:guide>
        <p15:guide id="24" orient="horz" pos="4219">
          <p15:clr>
            <a:srgbClr val="5ACBF0"/>
          </p15:clr>
        </p15:guide>
        <p15:guide id="25" orient="horz" pos="302">
          <p15:clr>
            <a:srgbClr val="C35EA4"/>
          </p15:clr>
        </p15:guide>
        <p15:guide id="26" orient="horz" pos="4104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5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0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0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0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9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9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0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0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0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0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6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5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5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9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6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0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0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5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0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0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9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0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6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5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3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emepetres/local-vision-playground" TargetMode="External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21.png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2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3.xml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4023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554038" y="3038738"/>
            <a:ext cx="10998199" cy="915726"/>
          </a:xfrm>
          <a:noFill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5000" spc="0" dirty="0">
                <a:ln>
                  <a:noFill/>
                </a:ln>
                <a:gradFill>
                  <a:gsLst>
                    <a:gs pos="0">
                      <a:srgbClr val="50E6FF"/>
                    </a:gs>
                    <a:gs pos="100000">
                      <a:srgbClr val="D59DFF"/>
                    </a:gs>
                  </a:gsLst>
                  <a:lin ang="2400000" scaled="0"/>
                </a:gradFill>
                <a:latin typeface="Segoe UI Semibold" panose="020B0702040204020203" pitchFamily="34" charset="0"/>
                <a:cs typeface="Segoe UI Semibold" panose="020B0702040204020203" pitchFamily="34" charset="0"/>
              </a:rPr>
              <a:t>Computer Vision in Airplane Mode</a:t>
            </a:r>
            <a:endParaRPr kumimoji="0" lang="es-ES" sz="6000" b="0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rgbClr val="50E6FF"/>
                  </a:gs>
                  <a:gs pos="100000">
                    <a:srgbClr val="D59DFF"/>
                  </a:gs>
                </a:gsLst>
                <a:lin ang="2400000" scaled="0"/>
              </a:gradFill>
              <a:effectLst/>
              <a:uLnTx/>
              <a:uFillTx/>
              <a:latin typeface="Segoe UI Semibold" panose="020B0702040204020203" pitchFamily="34" charset="0"/>
              <a:ea typeface="+mn-ea"/>
              <a:cs typeface="Segoe UI Semibold" panose="020B0702040204020203" pitchFamily="3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>
          <a:noFill/>
        </p:spPr>
        <p:txBody>
          <a:bodyPr/>
          <a:lstStyle/>
          <a:p>
            <a:r>
              <a:t>A camera, a local model and an agent, with nothing leaving the laptop</a:t>
            </a:r>
          </a:p>
          <a:p>
            <a:pPr>
              <a:spcBef>
                <a:spcPts val="1400"/>
              </a:spcBef>
            </a:pPr>
            <a:r>
              <a:rPr sz="1600">
                <a:solidFill>
                  <a:srgbClr val="8FA3BF"/>
                </a:solidFill>
              </a:rPr>
              <a:t>Javier Carnero · Plain Concepts</a:t>
            </a:r>
            <a:endParaRPr lang="pt-BR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93751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FCDA05-6CA0-D8C0-6E38-0739FA7C2B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165" y="871601"/>
            <a:ext cx="7206602" cy="525132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47651E1-6E84-0285-AD57-F85B785AE4F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488106" y="678220"/>
            <a:ext cx="4105536" cy="3167317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15EEE8F3-F413-6240-15F2-F9B0C64CBF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6437" y="4335463"/>
            <a:ext cx="5007873" cy="1981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8926D48-3CE7-46C2-8666-728A82E7E0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34487" y="4447823"/>
            <a:ext cx="1259769" cy="1259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820270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Oval 2"/>
          <p:cNvSpPr/>
          <p:nvPr/>
        </p:nvSpPr>
        <p:spPr>
          <a:xfrm>
            <a:off x="889000" y="762000"/>
            <a:ext cx="914400" cy="914400"/>
          </a:xfrm>
          <a:prstGeom prst="ellipse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3240">
                <a:solidFill>
                  <a:srgbClr val="001344"/>
                </a:solidFill>
                <a:latin typeface="Segoe MDL2 Assets"/>
              </a:rPr>
              <a:t>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9000" y="1905000"/>
            <a:ext cx="10668000" cy="16510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4800">
                <a:solidFill>
                  <a:srgbClr val="FFFFFF"/>
                </a:solidFill>
                <a:latin typeface="Segoe UI Semibold"/>
              </a:rPr>
              <a:t>Airplane mode: 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9000" y="3810000"/>
            <a:ext cx="1066800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>
                <a:solidFill>
                  <a:srgbClr val="0BD0D9"/>
                </a:solidFill>
                <a:latin typeface="Segoe UI Light"/>
              </a:rPr>
              <a:t>and it stays on until the last slide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Live demo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One look</a:t>
            </a:r>
          </a:p>
        </p:txBody>
      </p:sp>
      <p:sp>
        <p:nvSpPr>
          <p:cNvPr id="4" name="Oval 3"/>
          <p:cNvSpPr/>
          <p:nvPr/>
        </p:nvSpPr>
        <p:spPr>
          <a:xfrm>
            <a:off x="558800" y="1270000"/>
            <a:ext cx="711200" cy="7112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520">
                <a:solidFill>
                  <a:srgbClr val="001344"/>
                </a:solidFill>
                <a:latin typeface="Segoe MDL2 Assets"/>
              </a:rPr>
              <a:t>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README.md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508000" y="1460500"/>
            <a:ext cx="11420475" cy="5080000"/>
          </a:xfrm>
        </p:spPr>
        <p:txBody>
          <a:bodyPr wrap="square"/>
          <a:lstStyle/>
          <a:p>
            <a:r>
              <a:rPr sz="2100">
                <a:solidFill>
                  <a:srgbClr val="0078D4"/>
                </a:solidFill>
                <a:latin typeface="Consolas"/>
              </a:rPr>
              <a:t>$ uv run observe</a:t>
            </a:r>
          </a:p>
          <a:p>
            <a:r>
              <a:rPr sz="2100">
                <a:solidFill>
                  <a:srgbClr val="1B1B1B"/>
                </a:solidFill>
                <a:latin typeface="Consolas"/>
              </a:rPr>
              <a:t>Model      qwen3-vl-2b-instruct-generic-cpu:2 (CPU / CPUExecutionProvider)</a:t>
            </a:r>
          </a:p>
          <a:p>
            <a:r>
              <a:rPr sz="2100">
                <a:solidFill>
                  <a:srgbClr val="1B1B1B"/>
                </a:solidFill>
                <a:latin typeface="Consolas"/>
              </a:rPr>
              <a:t>Frame      640x480 jpeg, from camera 0</a:t>
            </a:r>
          </a:p>
          <a:p>
            <a:r>
              <a:rPr sz="2100">
                <a:solidFill>
                  <a:srgbClr val="1B1B1B"/>
                </a:solidFill>
                <a:latin typeface="Consolas"/>
              </a:rPr>
              <a:t>Inference  1.201 s</a:t>
            </a:r>
          </a:p>
          <a:p>
            <a:r>
              <a:rPr sz="2100">
                <a:solidFill>
                  <a:srgbClr val="1B1B1B"/>
                </a:solidFill>
                <a:latin typeface="Consolas"/>
              </a:rPr>
              <a:t> </a:t>
            </a:r>
          </a:p>
          <a:p>
            <a:r>
              <a:rPr sz="2100">
                <a:solidFill>
                  <a:srgbClr val="1B1B1B"/>
                </a:solidFill>
                <a:latin typeface="Consolas"/>
              </a:rPr>
              <a:t>A man with a beard is sitting in a room in front of a wooden bookshelf</a:t>
            </a:r>
          </a:p>
          <a:p>
            <a:r>
              <a:rPr sz="2100">
                <a:solidFill>
                  <a:srgbClr val="1B1B1B"/>
                </a:solidFill>
                <a:latin typeface="Consolas"/>
              </a:rPr>
              <a:t>filled with books and model rockets.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89000" y="1905000"/>
            <a:ext cx="10668000" cy="16510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4800">
                <a:solidFill>
                  <a:srgbClr val="001344"/>
                </a:solidFill>
                <a:latin typeface="Segoe UI Semibold"/>
              </a:rPr>
              <a:t>It wrote a sentence about 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000" y="3810000"/>
            <a:ext cx="1066800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>
                <a:solidFill>
                  <a:srgbClr val="0078D4"/>
                </a:solidFill>
                <a:latin typeface="Segoe UI Light"/>
              </a:rPr>
              <a:t>and the picture never left this laptop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89000" y="1524000"/>
            <a:ext cx="1524000" cy="15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0">
                <a:solidFill>
                  <a:srgbClr val="0078D4"/>
                </a:solidFill>
                <a:latin typeface="Segoe UI Semibold"/>
              </a:rP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05000" y="2413000"/>
            <a:ext cx="9652000" cy="228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000">
                <a:solidFill>
                  <a:srgbClr val="001344"/>
                </a:solidFill>
                <a:latin typeface="Segoe UI Light"/>
              </a:rPr>
              <a:t>Local AI is a chat toy. Real AI lives in the cloud.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89000" y="2286000"/>
            <a:ext cx="10668000" cy="241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6600">
                <a:solidFill>
                  <a:srgbClr val="FFFFFF"/>
                </a:solidFill>
                <a:latin typeface="Segoe UI Semibold"/>
              </a:rPr>
              <a:t>What crosses the wire?</a:t>
            </a:r>
          </a:p>
        </p:txBody>
      </p:sp>
      <p:sp>
        <p:nvSpPr>
          <p:cNvPr id="3" name="Oval 2"/>
          <p:cNvSpPr/>
          <p:nvPr/>
        </p:nvSpPr>
        <p:spPr>
          <a:xfrm>
            <a:off x="889000" y="1397000"/>
            <a:ext cx="711200" cy="711200"/>
          </a:xfrm>
          <a:prstGeom prst="ellipse">
            <a:avLst/>
          </a:prstGeom>
          <a:solidFill>
            <a:srgbClr val="0BD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520">
                <a:solidFill>
                  <a:srgbClr val="001344"/>
                </a:solidFill>
                <a:latin typeface="Segoe MDL2 Assets"/>
              </a:rPr>
              <a:t>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6100" y="2120900"/>
            <a:ext cx="10160000" cy="1181100"/>
          </a:xfrm>
        </p:spPr>
        <p:txBody>
          <a:bodyPr/>
          <a:lstStyle/>
          <a:p>
            <a:r>
              <a:t>A workstation on a production line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279400" y="1651000"/>
            <a:ext cx="11430000" cy="4826000"/>
          </a:xfrm>
        </p:spPr>
        <p:txBody>
          <a:bodyPr/>
          <a:lstStyle/>
          <a:p>
            <a:pPr>
              <a:spcAft>
                <a:spcPts val="1400"/>
              </a:spcAft>
            </a:pPr>
            <a:r>
              <a:rPr sz="3000"/>
              <a:t>The camera films workers</a:t>
            </a:r>
          </a:p>
          <a:p>
            <a:pPr>
              <a:spcAft>
                <a:spcPts val="1400"/>
              </a:spcAft>
            </a:pPr>
            <a:r>
              <a:rPr sz="3000"/>
              <a:t>The plant network is cut off by design</a:t>
            </a:r>
          </a:p>
          <a:p>
            <a:pPr>
              <a:spcAft>
                <a:spcPts val="1400"/>
              </a:spcAft>
            </a:pPr>
            <a:r>
              <a:rPr sz="3000"/>
              <a:t>The camera watches all shift, every shift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79400" y="292100"/>
            <a:ext cx="10414000" cy="914400"/>
          </a:xfrm>
        </p:spPr>
        <p:txBody>
          <a:bodyPr/>
          <a:lstStyle/>
          <a:p>
            <a:r>
              <a:t>Three facts about this plant</a:t>
            </a:r>
          </a:p>
        </p:txBody>
      </p:sp>
      <p:sp>
        <p:nvSpPr>
          <p:cNvPr id="4" name="Oval 3"/>
          <p:cNvSpPr/>
          <p:nvPr/>
        </p:nvSpPr>
        <p:spPr>
          <a:xfrm>
            <a:off x="11344275" y="330200"/>
            <a:ext cx="812800" cy="812800"/>
          </a:xfrm>
          <a:prstGeom prst="ellipse">
            <a:avLst/>
          </a:prstGeom>
          <a:solidFill>
            <a:srgbClr val="001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880">
                <a:solidFill>
                  <a:srgbClr val="0BD0D9"/>
                </a:solidFill>
                <a:latin typeface="Segoe MDL2 Assets"/>
              </a:rPr>
              <a:t>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esk-scale work cell with a green mat, a parts tray, gloves and a camer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237" y="355600"/>
            <a:ext cx="10160000" cy="5715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38237" y="6248400"/>
            <a:ext cx="10160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i="1">
                <a:solidFill>
                  <a:srgbClr val="DBEFF9"/>
                </a:solidFill>
                <a:latin typeface="Segoe UI Light"/>
              </a:rPr>
              <a:t>the work cell, at desk scale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amera, vision, a JSON Lines file, the agent, a toast and a log, all on one lapt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237" y="355600"/>
            <a:ext cx="10160000" cy="5715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38237" y="6248400"/>
            <a:ext cx="10160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i="1">
                <a:solidFill>
                  <a:srgbClr val="DBEFF9"/>
                </a:solidFill>
                <a:latin typeface="Segoe UI Light"/>
              </a:rPr>
              <a:t>the whole system, on one laptop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279400" y="1651000"/>
            <a:ext cx="11430000" cy="4826000"/>
          </a:xfrm>
        </p:spPr>
        <p:txBody>
          <a:bodyPr/>
          <a:lstStyle/>
          <a:p>
            <a:pPr>
              <a:spcAft>
                <a:spcPts val="1400"/>
              </a:spcAft>
            </a:pPr>
            <a:r>
              <a:rPr sz="2800"/>
              <a:t>Qwen3-VL, 2B and 4B, the model that sees</a:t>
            </a:r>
          </a:p>
          <a:p>
            <a:pPr>
              <a:spcAft>
                <a:spcPts val="1400"/>
              </a:spcAft>
            </a:pPr>
            <a:r>
              <a:rPr sz="2800"/>
              <a:t>Foundry Local 2.0.1, in-process</a:t>
            </a:r>
          </a:p>
          <a:p>
            <a:pPr>
              <a:spcAft>
                <a:spcPts val="1400"/>
              </a:spcAft>
            </a:pPr>
            <a:r>
              <a:rPr sz="2800"/>
              <a:t>OpenVINO GenAI 2026.3, for the GPU and the NPU</a:t>
            </a:r>
          </a:p>
          <a:p>
            <a:pPr>
              <a:spcAft>
                <a:spcPts val="1400"/>
              </a:spcAft>
            </a:pPr>
            <a:r>
              <a:rPr sz="2800"/>
              <a:t>Microsoft Agent Framework 1.22, on .NET 10</a:t>
            </a:r>
          </a:p>
          <a:p>
            <a:pPr>
              <a:spcAft>
                <a:spcPts val="1400"/>
              </a:spcAft>
            </a:pPr>
            <a:r>
              <a:rPr sz="2800"/>
              <a:t>Python for vision, C# for the Agent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79400" y="292100"/>
            <a:ext cx="10414000" cy="914400"/>
          </a:xfrm>
        </p:spPr>
        <p:txBody>
          <a:bodyPr/>
          <a:lstStyle/>
          <a:p>
            <a:r>
              <a:t>The stack</a:t>
            </a:r>
          </a:p>
        </p:txBody>
      </p:sp>
      <p:sp>
        <p:nvSpPr>
          <p:cNvPr id="4" name="Oval 3"/>
          <p:cNvSpPr/>
          <p:nvPr/>
        </p:nvSpPr>
        <p:spPr>
          <a:xfrm>
            <a:off x="11344275" y="330200"/>
            <a:ext cx="812800" cy="812800"/>
          </a:xfrm>
          <a:prstGeom prst="ellipse">
            <a:avLst/>
          </a:prstGeom>
          <a:solidFill>
            <a:srgbClr val="001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880">
                <a:solidFill>
                  <a:srgbClr val="0BD0D9"/>
                </a:solidFill>
                <a:latin typeface="Segoe MDL2 Assets"/>
              </a:rPr>
              <a:t>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6100" y="2120900"/>
            <a:ext cx="10160000" cy="1181100"/>
          </a:xfrm>
        </p:spPr>
        <p:txBody>
          <a:bodyPr/>
          <a:lstStyle/>
          <a:p>
            <a:r>
              <a:t>The frame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6100" y="635000"/>
            <a:ext cx="2540000" cy="13970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9600">
                <a:solidFill>
                  <a:srgbClr val="0BD0D9"/>
                </a:solidFill>
                <a:latin typeface="Segoe UI Semibold"/>
              </a:rPr>
              <a:t>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terminal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508000" y="1460500"/>
            <a:ext cx="11420475" cy="5080000"/>
          </a:xfrm>
        </p:spPr>
        <p:txBody>
          <a:bodyPr wrap="square"/>
          <a:lstStyle/>
          <a:p>
            <a:r>
              <a:rPr sz="2400">
                <a:solidFill>
                  <a:srgbClr val="C4314B"/>
                </a:solidFill>
                <a:latin typeface="Consolas"/>
              </a:rPr>
              <a:t>This is an invalid model.</a:t>
            </a:r>
          </a:p>
          <a:p>
            <a:r>
              <a:rPr sz="2400">
                <a:solidFill>
                  <a:srgbClr val="C4314B"/>
                </a:solidFill>
                <a:latin typeface="Consolas"/>
              </a:rPr>
              <a:t>Error: Duplicate definition of name (pad_CUDAExecutionProvider).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279400" y="1651000"/>
            <a:ext cx="11430000" cy="4826000"/>
          </a:xfrm>
        </p:spPr>
        <p:txBody>
          <a:bodyPr/>
          <a:lstStyle/>
          <a:p>
            <a:pPr>
              <a:spcAft>
                <a:spcPts val="1400"/>
              </a:spcAft>
            </a:pPr>
            <a:r>
              <a:rPr sz="2800"/>
              <a:t>no service, no HTTP hop</a:t>
            </a:r>
          </a:p>
          <a:p>
            <a:pPr>
              <a:spcAft>
                <a:spcPts val="1400"/>
              </a:spcAft>
            </a:pPr>
            <a:r>
              <a:rPr sz="2800"/>
              <a:t>the image as a typed item, not base64 smuggled in</a:t>
            </a:r>
          </a:p>
          <a:p>
            <a:pPr>
              <a:spcAft>
                <a:spcPts val="1400"/>
              </a:spcAft>
            </a:pPr>
            <a:r>
              <a:rPr sz="2800"/>
              <a:t>one package, no </a:t>
            </a:r>
            <a:r>
              <a:rPr sz="2800">
                <a:latin typeface="Consolas"/>
              </a:rPr>
              <a:t>-winml</a:t>
            </a:r>
            <a:r>
              <a:rPr sz="2800"/>
              <a:t> split</a:t>
            </a:r>
          </a:p>
          <a:p>
            <a:pPr>
              <a:spcAft>
                <a:spcPts val="1400"/>
              </a:spcAft>
            </a:pPr>
            <a:r>
              <a:rPr sz="2800"/>
              <a:t>telemetry you can switch off</a:t>
            </a:r>
          </a:p>
          <a:p>
            <a:pPr>
              <a:spcAft>
                <a:spcPts val="1400"/>
              </a:spcAft>
            </a:pPr>
            <a:r>
              <a:rPr sz="2800"/>
              <a:t>a pinned Variant starts with no network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79400" y="292100"/>
            <a:ext cx="10414000" cy="914400"/>
          </a:xfrm>
        </p:spPr>
        <p:txBody>
          <a:bodyPr/>
          <a:lstStyle/>
          <a:p>
            <a:r>
              <a:t>Foundry Local 2.0, in-process</a:t>
            </a:r>
          </a:p>
        </p:txBody>
      </p:sp>
      <p:sp>
        <p:nvSpPr>
          <p:cNvPr id="4" name="Oval 3"/>
          <p:cNvSpPr/>
          <p:nvPr/>
        </p:nvSpPr>
        <p:spPr>
          <a:xfrm>
            <a:off x="11344275" y="330200"/>
            <a:ext cx="812800" cy="812800"/>
          </a:xfrm>
          <a:prstGeom prst="ellipse">
            <a:avLst/>
          </a:prstGeom>
          <a:solidFill>
            <a:srgbClr val="001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880">
                <a:solidFill>
                  <a:srgbClr val="0BD0D9"/>
                </a:solidFill>
                <a:latin typeface="Segoe MDL2 Assets"/>
              </a:rPr>
              <a:t>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89000" y="1651000"/>
            <a:ext cx="609600" cy="609600"/>
          </a:xfrm>
          <a:prstGeom prst="ellipse">
            <a:avLst/>
          </a:prstGeom>
          <a:solidFill>
            <a:srgbClr val="0BD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160">
                <a:solidFill>
                  <a:srgbClr val="001344"/>
                </a:solidFill>
                <a:latin typeface="Segoe MDL2 Assets"/>
              </a:rPr>
              <a:t>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01800" y="1651000"/>
            <a:ext cx="8890000" cy="609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>
                <a:solidFill>
                  <a:srgbClr val="8FA3BF"/>
                </a:solidFill>
                <a:latin typeface="Segoe UI"/>
              </a:rPr>
              <a:t>What crosses the wire?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9000" y="2667000"/>
            <a:ext cx="10668000" cy="25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200">
                <a:solidFill>
                  <a:srgbClr val="0BD0D9"/>
                </a:solidFill>
                <a:latin typeface="Segoe UI Semibold"/>
              </a:rPr>
              <a:t>A sentence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6100" y="2120900"/>
            <a:ext cx="10160000" cy="1181100"/>
          </a:xfrm>
        </p:spPr>
        <p:txBody>
          <a:bodyPr/>
          <a:lstStyle/>
          <a:p>
            <a:r>
              <a:t>The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6100" y="635000"/>
            <a:ext cx="2540000" cy="13970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9600">
                <a:solidFill>
                  <a:srgbClr val="0BD0D9"/>
                </a:solidFill>
                <a:latin typeface="Segoe UI Semibold"/>
              </a:rPr>
              <a:t>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Live demo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Ask the watch</a:t>
            </a:r>
          </a:p>
        </p:txBody>
      </p:sp>
      <p:sp>
        <p:nvSpPr>
          <p:cNvPr id="4" name="Oval 3"/>
          <p:cNvSpPr/>
          <p:nvPr/>
        </p:nvSpPr>
        <p:spPr>
          <a:xfrm>
            <a:off x="558800" y="1270000"/>
            <a:ext cx="711200" cy="7112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520">
                <a:solidFill>
                  <a:srgbClr val="001344"/>
                </a:solidFill>
                <a:latin typeface="Segoe MDL2 Assets"/>
              </a:rPr>
              <a:t>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8500" y="1465262"/>
            <a:ext cx="5329237" cy="406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79500" y="1846262"/>
            <a:ext cx="4567237" cy="635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>
                <a:solidFill>
                  <a:srgbClr val="0078D4"/>
                </a:solidFill>
                <a:latin typeface="Segoe UI Semibold"/>
              </a:rPr>
              <a:t>A detector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9500" y="2798762"/>
            <a:ext cx="4567237" cy="2349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79400" indent="-279400">
              <a:buClr>
                <a:srgbClr val="0078D4"/>
              </a:buClr>
              <a:buFont typeface="Arial"/>
              <a:buChar char="•"/>
            </a:pPr>
            <a:r>
              <a:rPr sz="2800">
                <a:solidFill>
                  <a:srgbClr val="1B1B1B"/>
                </a:solidFill>
                <a:latin typeface="Segoe UI"/>
              </a:rPr>
              <a:t>a fixed list of classes</a:t>
            </a:r>
          </a:p>
          <a:p>
            <a:pPr marL="279400" indent="-279400">
              <a:buClr>
                <a:srgbClr val="0078D4"/>
              </a:buClr>
              <a:buFont typeface="Arial"/>
              <a:buChar char="•"/>
            </a:pPr>
            <a:r>
              <a:rPr sz="2800">
                <a:solidFill>
                  <a:srgbClr val="1B1B1B"/>
                </a:solidFill>
                <a:latin typeface="Segoe UI"/>
              </a:rPr>
              <a:t>retrained when the list changes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8737" y="1465262"/>
            <a:ext cx="5329237" cy="4064000"/>
          </a:xfrm>
          <a:prstGeom prst="roundRect">
            <a:avLst>
              <a:gd name="adj" fmla="val 5000"/>
            </a:avLst>
          </a:prstGeom>
          <a:solidFill>
            <a:srgbClr val="001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789737" y="1846262"/>
            <a:ext cx="4567237" cy="635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>
                <a:solidFill>
                  <a:srgbClr val="0BD0D9"/>
                </a:solidFill>
                <a:latin typeface="Segoe UI Semibold"/>
              </a:rPr>
              <a:t>A vision-language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89737" y="2798762"/>
            <a:ext cx="4567237" cy="2349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79400" indent="-279400">
              <a:buClr>
                <a:srgbClr val="0BD0D9"/>
              </a:buClr>
              <a:buFont typeface="Arial"/>
              <a:buChar char="•"/>
            </a:pPr>
            <a:r>
              <a:rPr sz="2800">
                <a:solidFill>
                  <a:srgbClr val="FFFFFF"/>
                </a:solidFill>
                <a:latin typeface="Segoe UI"/>
              </a:rPr>
              <a:t>a list anyone changes by typing</a:t>
            </a:r>
          </a:p>
          <a:p>
            <a:pPr marL="279400" indent="-279400">
              <a:buClr>
                <a:srgbClr val="0BD0D9"/>
              </a:buClr>
              <a:buFont typeface="Arial"/>
              <a:buChar char="•"/>
            </a:pPr>
            <a:r>
              <a:rPr sz="2800">
                <a:solidFill>
                  <a:srgbClr val="FFFFFF"/>
                </a:solidFill>
                <a:latin typeface="Segoe UI"/>
              </a:rPr>
              <a:t>an accuracy you have to measure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89000" y="1524000"/>
            <a:ext cx="1524000" cy="15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0">
                <a:solidFill>
                  <a:srgbClr val="0078D4"/>
                </a:solidFill>
                <a:latin typeface="Segoe UI Semibold"/>
              </a:rP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05000" y="2413000"/>
            <a:ext cx="9652000" cy="228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000">
                <a:solidFill>
                  <a:srgbClr val="001344"/>
                </a:solidFill>
                <a:latin typeface="Segoe UI Light"/>
              </a:rPr>
              <a:t>Answer in one sentence.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89000" y="1651000"/>
            <a:ext cx="609600" cy="609600"/>
          </a:xfrm>
          <a:prstGeom prst="ellipse">
            <a:avLst/>
          </a:prstGeom>
          <a:solidFill>
            <a:srgbClr val="0BD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160">
                <a:solidFill>
                  <a:srgbClr val="001344"/>
                </a:solidFill>
                <a:latin typeface="Segoe MDL2 Assets"/>
              </a:rPr>
              <a:t>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01800" y="1651000"/>
            <a:ext cx="8890000" cy="609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>
                <a:solidFill>
                  <a:srgbClr val="8FA3BF"/>
                </a:solidFill>
                <a:latin typeface="Segoe UI"/>
              </a:rPr>
              <a:t>What crosses the wire?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9000" y="2667000"/>
            <a:ext cx="10668000" cy="25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200">
                <a:solidFill>
                  <a:srgbClr val="0BD0D9"/>
                </a:solidFill>
                <a:latin typeface="Segoe UI Semibold"/>
              </a:rPr>
              <a:t>A question in, a sentence out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6100" y="2120900"/>
            <a:ext cx="10160000" cy="1181100"/>
          </a:xfrm>
        </p:spPr>
        <p:txBody>
          <a:bodyPr/>
          <a:lstStyle/>
          <a:p>
            <a:r>
              <a:t>The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6100" y="635000"/>
            <a:ext cx="2540000" cy="13970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9600">
                <a:solidFill>
                  <a:srgbClr val="0BD0D9"/>
                </a:solidFill>
                <a:latin typeface="Segoe UI Semibold"/>
              </a:rPr>
              <a:t>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279400" y="1651000"/>
            <a:ext cx="11430000" cy="4826000"/>
          </a:xfrm>
        </p:spPr>
        <p:txBody>
          <a:bodyPr/>
          <a:lstStyle/>
          <a:p>
            <a:pPr>
              <a:spcAft>
                <a:spcPts val="1400"/>
              </a:spcAft>
            </a:pPr>
            <a:r>
              <a:rPr sz="3000">
                <a:latin typeface="Consolas"/>
              </a:rPr>
              <a:t>qwen3-vl</a:t>
            </a:r>
            <a:r>
              <a:rPr sz="3000"/>
              <a:t> on the CPU</a:t>
            </a:r>
          </a:p>
          <a:p>
            <a:pPr>
              <a:spcAft>
                <a:spcPts val="1400"/>
              </a:spcAft>
            </a:pPr>
            <a:r>
              <a:rPr sz="3000"/>
              <a:t>no GPU build</a:t>
            </a:r>
          </a:p>
          <a:p>
            <a:pPr>
              <a:spcAft>
                <a:spcPts val="1400"/>
              </a:spcAft>
            </a:pPr>
            <a:r>
              <a:rPr sz="3000"/>
              <a:t>no NPU build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79400" y="292100"/>
            <a:ext cx="10414000" cy="914400"/>
          </a:xfrm>
        </p:spPr>
        <p:txBody>
          <a:bodyPr/>
          <a:lstStyle/>
          <a:p>
            <a:r>
              <a:t>What the catalogue offers this laptop</a:t>
            </a:r>
          </a:p>
        </p:txBody>
      </p:sp>
      <p:sp>
        <p:nvSpPr>
          <p:cNvPr id="4" name="Oval 3"/>
          <p:cNvSpPr/>
          <p:nvPr/>
        </p:nvSpPr>
        <p:spPr>
          <a:xfrm>
            <a:off x="11344275" y="330200"/>
            <a:ext cx="812800" cy="812800"/>
          </a:xfrm>
          <a:prstGeom prst="ellipse">
            <a:avLst/>
          </a:prstGeom>
          <a:solidFill>
            <a:srgbClr val="001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880">
                <a:solidFill>
                  <a:srgbClr val="0BD0D9"/>
                </a:solidFill>
                <a:latin typeface="Segoe MDL2 Assets"/>
              </a:rPr>
              <a:t>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vision/tools/convert/convert.py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508000" y="1460500"/>
            <a:ext cx="11420475" cy="5080000"/>
          </a:xfrm>
        </p:spPr>
        <p:txBody>
          <a:bodyPr wrap="square"/>
          <a:lstStyle/>
          <a:p>
            <a:r>
              <a:rPr sz="2600">
                <a:solidFill>
                  <a:srgbClr val="0078D4"/>
                </a:solidFill>
                <a:latin typeface="Consolas"/>
              </a:rPr>
              <a:t>optimum-cli export openvino \</a:t>
            </a:r>
          </a:p>
          <a:p>
            <a:r>
              <a:rPr sz="2600">
                <a:solidFill>
                  <a:srgbClr val="1B1B1B"/>
                </a:solidFill>
                <a:latin typeface="Consolas"/>
              </a:rPr>
              <a:t>  --model Qwen/Qwen3-VL-2B-Instruct \</a:t>
            </a:r>
          </a:p>
          <a:p>
            <a:r>
              <a:rPr sz="2600">
                <a:solidFill>
                  <a:srgbClr val="1B1B1B"/>
                </a:solidFill>
                <a:latin typeface="Consolas"/>
              </a:rPr>
              <a:t>  --weight-format int4 --sym --ratio=1.0 --group-size=-1 \</a:t>
            </a:r>
          </a:p>
          <a:p>
            <a:r>
              <a:rPr sz="2600">
                <a:solidFill>
                  <a:srgbClr val="1B1B1B"/>
                </a:solidFill>
                <a:latin typeface="Consolas"/>
              </a:rPr>
              <a:t>  qwen3-vl-2b-instruct-int4-sym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6-bit weights compressed to 4-bit, one file for three engin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237" y="355600"/>
            <a:ext cx="10160000" cy="5715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38237" y="6248400"/>
            <a:ext cx="10160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i="1">
                <a:solidFill>
                  <a:srgbClr val="DBEFF9"/>
                </a:solidFill>
                <a:latin typeface="Segoe UI Light"/>
              </a:rPr>
              <a:t>sixteen bits to four, one file for three engines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8500" y="1465262"/>
            <a:ext cx="5329237" cy="406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79500" y="1846262"/>
            <a:ext cx="4567237" cy="635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>
                <a:solidFill>
                  <a:srgbClr val="0078D4"/>
                </a:solidFill>
                <a:latin typeface="Segoe UI Semibold"/>
              </a:rPr>
              <a:t>Foundry Local, CPU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9500" y="2798762"/>
            <a:ext cx="4567237" cy="2349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 i="1">
                <a:solidFill>
                  <a:srgbClr val="1B1B1B"/>
                </a:solidFill>
                <a:latin typeface="Segoe UI Light"/>
              </a:rPr>
              <a:t>This is a dimly lit room with a tall wooden bookshelf filled with books and various items on the shelves. A blue and gray office chair is in the foreground.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8737" y="1465262"/>
            <a:ext cx="5329237" cy="4064000"/>
          </a:xfrm>
          <a:prstGeom prst="roundRect">
            <a:avLst>
              <a:gd name="adj" fmla="val 5000"/>
            </a:avLst>
          </a:prstGeom>
          <a:solidFill>
            <a:srgbClr val="001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789737" y="1846262"/>
            <a:ext cx="4567237" cy="635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>
                <a:solidFill>
                  <a:srgbClr val="0BD0D9"/>
                </a:solidFill>
                <a:latin typeface="Segoe UI Semibold"/>
              </a:rPr>
              <a:t>OpenVINO, INT4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89737" y="2798762"/>
            <a:ext cx="4567237" cy="2349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 i="1">
                <a:solidFill>
                  <a:srgbClr val="FFFFFF"/>
                </a:solidFill>
                <a:latin typeface="Segoe UI Light"/>
              </a:rPr>
              <a:t>A bookshelf is on the left, and a white door is in the center. A white door is in the center. A white door is in the center. A white door is in the center.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89000" y="1905000"/>
            <a:ext cx="10668000" cy="16510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4800">
                <a:solidFill>
                  <a:srgbClr val="001344"/>
                </a:solidFill>
                <a:latin typeface="Segoe UI Semibold"/>
              </a:rPr>
              <a:t>The recipe sets the price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000" y="3810000"/>
            <a:ext cx="1066800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>
                <a:solidFill>
                  <a:srgbClr val="0078D4"/>
                </a:solidFill>
                <a:latin typeface="Segoe UI Light"/>
              </a:rPr>
              <a:t>not INT4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279400" y="1651000"/>
            <a:ext cx="11430000" cy="4826000"/>
          </a:xfrm>
        </p:spPr>
        <p:txBody>
          <a:bodyPr/>
          <a:lstStyle/>
          <a:p>
            <a:pPr>
              <a:spcAft>
                <a:spcPts val="1400"/>
              </a:spcAft>
            </a:pPr>
            <a:r>
              <a:rPr sz="2800"/>
              <a:t>one IR per engine, not one for all</a:t>
            </a:r>
          </a:p>
          <a:p>
            <a:pPr>
              <a:spcAft>
                <a:spcPts val="1400"/>
              </a:spcAft>
            </a:pPr>
            <a:r>
              <a:rPr sz="2800"/>
              <a:t>group-wise INT4 or INT8 for the GPU and the CPU</a:t>
            </a:r>
          </a:p>
          <a:p>
            <a:pPr>
              <a:spcAft>
                <a:spcPts val="1400"/>
              </a:spcAft>
            </a:pPr>
            <a:r>
              <a:rPr sz="2800"/>
              <a:t>group-wise, or AWQ and scale estimation, for the NPU</a:t>
            </a:r>
          </a:p>
          <a:p>
            <a:pPr>
              <a:spcAft>
                <a:spcPts val="1400"/>
              </a:spcAft>
            </a:pPr>
            <a:r>
              <a:rPr sz="2800"/>
              <a:t>a repetition penalty at decode time</a:t>
            </a:r>
          </a:p>
          <a:p>
            <a:pPr>
              <a:spcAft>
                <a:spcPts val="1400"/>
              </a:spcAft>
            </a:pPr>
            <a:r>
              <a:rPr sz="2800"/>
              <a:t>count the loops, not only the tokens per second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79400" y="292100"/>
            <a:ext cx="10414000" cy="914400"/>
          </a:xfrm>
        </p:spPr>
        <p:txBody>
          <a:bodyPr/>
          <a:lstStyle/>
          <a:p>
            <a:r>
              <a:t>Quantising better</a:t>
            </a:r>
          </a:p>
        </p:txBody>
      </p:sp>
      <p:sp>
        <p:nvSpPr>
          <p:cNvPr id="4" name="Oval 3"/>
          <p:cNvSpPr/>
          <p:nvPr/>
        </p:nvSpPr>
        <p:spPr>
          <a:xfrm>
            <a:off x="11344275" y="330200"/>
            <a:ext cx="812800" cy="812800"/>
          </a:xfrm>
          <a:prstGeom prst="ellipse">
            <a:avLst/>
          </a:prstGeom>
          <a:solidFill>
            <a:srgbClr val="001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880">
                <a:solidFill>
                  <a:srgbClr val="0BD0D9"/>
                </a:solidFill>
                <a:latin typeface="Segoe MDL2 Assets"/>
              </a:rPr>
              <a:t>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89000" y="1651000"/>
            <a:ext cx="609600" cy="609600"/>
          </a:xfrm>
          <a:prstGeom prst="ellipse">
            <a:avLst/>
          </a:prstGeom>
          <a:solidFill>
            <a:srgbClr val="0BD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160">
                <a:solidFill>
                  <a:srgbClr val="001344"/>
                </a:solidFill>
                <a:latin typeface="Segoe MDL2 Assets"/>
              </a:rPr>
              <a:t>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01800" y="1651000"/>
            <a:ext cx="8890000" cy="609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>
                <a:solidFill>
                  <a:srgbClr val="8FA3BF"/>
                </a:solidFill>
                <a:latin typeface="Segoe UI"/>
              </a:rPr>
              <a:t>What crosses the wire?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9000" y="2667000"/>
            <a:ext cx="10668000" cy="25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200">
                <a:solidFill>
                  <a:srgbClr val="0BD0D9"/>
                </a:solidFill>
                <a:latin typeface="Segoe UI Semibold"/>
              </a:rPr>
              <a:t>The model, once, while you prepare the machine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6100" y="2120900"/>
            <a:ext cx="10160000" cy="1181100"/>
          </a:xfrm>
        </p:spPr>
        <p:txBody>
          <a:bodyPr/>
          <a:lstStyle/>
          <a:p>
            <a:r>
              <a:t>The hardware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6100" y="635000"/>
            <a:ext cx="2540000" cy="13970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9600">
                <a:solidFill>
                  <a:srgbClr val="0BD0D9"/>
                </a:solidFill>
                <a:latin typeface="Segoe UI Semibold"/>
              </a:rPr>
              <a:t>4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terminal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508000" y="1460500"/>
            <a:ext cx="11420475" cy="5080000"/>
          </a:xfrm>
        </p:spPr>
        <p:txBody>
          <a:bodyPr wrap="square"/>
          <a:lstStyle/>
          <a:p>
            <a:r>
              <a:rPr sz="2700">
                <a:solidFill>
                  <a:srgbClr val="0078D4"/>
                </a:solidFill>
                <a:latin typeface="Consolas"/>
              </a:rPr>
              <a:t>uv run watch --variant qwen3-vl-2b-instruct-generic-cpu:2</a:t>
            </a:r>
          </a:p>
          <a:p>
            <a:r>
              <a:rPr sz="2700">
                <a:solidFill>
                  <a:srgbClr val="0078D4"/>
                </a:solidFill>
                <a:latin typeface="Consolas"/>
              </a:rPr>
              <a:t>uv run watch --variant qwen3-vl-2b-instruct-int4-sym-gpu</a:t>
            </a:r>
          </a:p>
          <a:p>
            <a:r>
              <a:rPr sz="2700">
                <a:solidFill>
                  <a:srgbClr val="0078D4"/>
                </a:solidFill>
                <a:latin typeface="Consolas"/>
              </a:rPr>
              <a:t>uv run watch --variant qwen3-vl-2b-instruct-int4-sym-npu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Same image, same prompt, tokens per second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08000" y="1587500"/>
          <a:ext cx="11430000" cy="4953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89000" y="2413000"/>
            <a:ext cx="10668000" cy="16510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4400">
                <a:solidFill>
                  <a:srgbClr val="001344"/>
                </a:solidFill>
                <a:latin typeface="Segoe UI Semibold"/>
              </a:rPr>
              <a:t>I measured the NPU with the GPU's ruler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89000" y="1905000"/>
            <a:ext cx="10668000" cy="16510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4800">
                <a:solidFill>
                  <a:srgbClr val="001344"/>
                </a:solidFill>
                <a:latin typeface="Segoe UI Semibold"/>
              </a:rPr>
              <a:t>Which engine is fastest?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000" y="3810000"/>
            <a:ext cx="1066800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>
                <a:solidFill>
                  <a:srgbClr val="0078D4"/>
                </a:solidFill>
                <a:latin typeface="Segoe UI Light"/>
              </a:rPr>
              <a:t>Which engine suits a station that watches all shift?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279400" y="1651000"/>
            <a:ext cx="11430000" cy="4826000"/>
          </a:xfrm>
        </p:spPr>
        <p:txBody>
          <a:bodyPr/>
          <a:lstStyle/>
          <a:p>
            <a:pPr>
              <a:spcAft>
                <a:spcPts val="1400"/>
              </a:spcAft>
            </a:pPr>
            <a:r>
              <a:rPr sz="3000"/>
              <a:t>loads fastest of the four: 2.3 s</a:t>
            </a:r>
          </a:p>
          <a:p>
            <a:pPr>
              <a:spcAft>
                <a:spcPts val="1400"/>
              </a:spcAft>
            </a:pPr>
            <a:r>
              <a:rPr sz="3000"/>
              <a:t>no cold-start penalty: 5.8 s first run, 5.9 s warm</a:t>
            </a:r>
          </a:p>
          <a:p>
            <a:pPr>
              <a:spcAft>
                <a:spcPts val="1400"/>
              </a:spcAft>
            </a:pPr>
            <a:r>
              <a:rPr sz="3000"/>
              <a:t>the exported model ran on it at the first attempt</a:t>
            </a:r>
          </a:p>
          <a:p>
            <a:pPr>
              <a:spcAft>
                <a:spcPts val="1400"/>
              </a:spcAft>
            </a:pPr>
            <a:r>
              <a:rPr sz="3000"/>
              <a:t>leaves the CPU and the GPU free for the rest of the station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79400" y="292100"/>
            <a:ext cx="10414000" cy="914400"/>
          </a:xfrm>
        </p:spPr>
        <p:txBody>
          <a:bodyPr/>
          <a:lstStyle/>
          <a:p>
            <a:r>
              <a:t>What the NPU showed on this laptop</a:t>
            </a:r>
          </a:p>
        </p:txBody>
      </p:sp>
      <p:sp>
        <p:nvSpPr>
          <p:cNvPr id="4" name="Oval 3"/>
          <p:cNvSpPr/>
          <p:nvPr/>
        </p:nvSpPr>
        <p:spPr>
          <a:xfrm>
            <a:off x="11344275" y="330200"/>
            <a:ext cx="812800" cy="812800"/>
          </a:xfrm>
          <a:prstGeom prst="ellipse">
            <a:avLst/>
          </a:prstGeom>
          <a:solidFill>
            <a:srgbClr val="001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880">
                <a:solidFill>
                  <a:srgbClr val="0BD0D9"/>
                </a:solidFill>
                <a:latin typeface="Segoe MDL2 Assets"/>
              </a:rPr>
              <a:t>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89000" y="1143000"/>
            <a:ext cx="10668000" cy="27940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14000">
                <a:solidFill>
                  <a:srgbClr val="FFFFFF"/>
                </a:solidFill>
                <a:latin typeface="Segoe UI Semibold"/>
              </a:rPr>
              <a:t>2.8x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9800" y="4191000"/>
            <a:ext cx="10160000" cy="177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>
                <a:solidFill>
                  <a:srgbClr val="DBEFF9"/>
                </a:solidFill>
                <a:latin typeface="Segoe UI Light"/>
              </a:rPr>
              <a:t>performance per watt of the NPU over the GPU, measured by Intel on Panther Lake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89000" y="1651000"/>
            <a:ext cx="609600" cy="609600"/>
          </a:xfrm>
          <a:prstGeom prst="ellipse">
            <a:avLst/>
          </a:prstGeom>
          <a:solidFill>
            <a:srgbClr val="0BD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160">
                <a:solidFill>
                  <a:srgbClr val="001344"/>
                </a:solidFill>
                <a:latin typeface="Segoe MDL2 Assets"/>
              </a:rPr>
              <a:t>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01800" y="1651000"/>
            <a:ext cx="8890000" cy="609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>
                <a:solidFill>
                  <a:srgbClr val="8FA3BF"/>
                </a:solidFill>
                <a:latin typeface="Segoe UI"/>
              </a:rPr>
              <a:t>What crosses the wire?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9000" y="2667000"/>
            <a:ext cx="10668000" cy="25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200">
                <a:solidFill>
                  <a:srgbClr val="0BD0D9"/>
                </a:solidFill>
                <a:latin typeface="Segoe UI Semibold"/>
              </a:rPr>
              <a:t>Nothing. Changing engines is changing a name.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6100" y="2120900"/>
            <a:ext cx="10160000" cy="1181100"/>
          </a:xfrm>
        </p:spPr>
        <p:txBody>
          <a:bodyPr/>
          <a:lstStyle/>
          <a:p>
            <a:r>
              <a:t>The seam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6100" y="635000"/>
            <a:ext cx="2540000" cy="13970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9600">
                <a:solidFill>
                  <a:srgbClr val="0BD0D9"/>
                </a:solidFill>
                <a:latin typeface="Segoe UI Semibold"/>
              </a:rPr>
              <a:t>5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89000" y="1143000"/>
            <a:ext cx="10668000" cy="27940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14000">
                <a:solidFill>
                  <a:srgbClr val="FFFFFF"/>
                </a:solidFill>
                <a:latin typeface="Segoe UI Semibold"/>
              </a:rPr>
              <a:t>0 of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9800" y="4191000"/>
            <a:ext cx="10160000" cy="177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>
                <a:solidFill>
                  <a:srgbClr val="DBEFF9"/>
                </a:solidFill>
                <a:latin typeface="Segoe UI Light"/>
              </a:rPr>
              <a:t>forced tool calls with an image that the model honoured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vision/src/vision/inference.py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508000" y="1460500"/>
            <a:ext cx="11420475" cy="5080000"/>
          </a:xfrm>
        </p:spPr>
        <p:txBody>
          <a:bodyPr wrap="square"/>
          <a:lstStyle/>
          <a:p>
            <a:r>
              <a:rPr sz="2300">
                <a:solidFill>
                  <a:srgbClr val="1B1B1B"/>
                </a:solidFill>
                <a:latin typeface="Consolas"/>
              </a:rPr>
              <a:t>This is a work bench seen from above. The work zone is the green</a:t>
            </a:r>
          </a:p>
          <a:p>
            <a:r>
              <a:rPr sz="2300">
                <a:solidFill>
                  <a:srgbClr val="1B1B1B"/>
                </a:solidFill>
                <a:latin typeface="Consolas"/>
              </a:rPr>
              <a:t>cutting mat. The tray is the white mesh tray beside it.</a:t>
            </a:r>
          </a:p>
          <a:p>
            <a:r>
              <a:rPr sz="2300">
                <a:solidFill>
                  <a:srgbClr val="1B1B1B"/>
                </a:solidFill>
                <a:latin typeface="Consolas"/>
              </a:rPr>
              <a:t>List every distinct object you can see, and where it is:</a:t>
            </a:r>
          </a:p>
          <a:p>
            <a:r>
              <a:rPr sz="2300">
                <a:solidFill>
                  <a:srgbClr val="1B1B1B"/>
                </a:solidFill>
                <a:latin typeface="Consolas"/>
              </a:rPr>
              <a:t>"tray", "zone", "hand" or "elsewhere".</a:t>
            </a:r>
          </a:p>
          <a:p>
            <a:r>
              <a:rPr sz="2300">
                <a:solidFill>
                  <a:srgbClr val="1B1B1B"/>
                </a:solidFill>
                <a:latin typeface="Consolas"/>
              </a:rPr>
              <a:t>Name each visible hand "bare hand" (skin showing) or "gloved hand".</a:t>
            </a:r>
          </a:p>
          <a:p>
            <a:r>
              <a:rPr sz="2300">
                <a:solidFill>
                  <a:srgbClr val="1B1B1B"/>
                </a:solidFill>
                <a:latin typeface="Consolas"/>
              </a:rPr>
              <a:t>Reply with ONLY a JSON array of {"name", "count", "where"}.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8500" y="1465262"/>
            <a:ext cx="5329237" cy="406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79500" y="1846262"/>
            <a:ext cx="4567237" cy="635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>
                <a:solidFill>
                  <a:srgbClr val="0078D4"/>
                </a:solidFill>
                <a:latin typeface="Segoe UI Semibold"/>
              </a:rPr>
              <a:t>Asked in prose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9500" y="2798762"/>
            <a:ext cx="4567237" cy="2349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79400" indent="-279400">
              <a:buClr>
                <a:srgbClr val="0078D4"/>
              </a:buClr>
              <a:buFont typeface="Arial"/>
              <a:buChar char="•"/>
            </a:pPr>
            <a:r>
              <a:rPr sz="2800">
                <a:solidFill>
                  <a:srgbClr val="1B1B1B"/>
                </a:solidFill>
                <a:latin typeface="Segoe UI"/>
              </a:rPr>
              <a:t>"Is each visible hand bare or gloved?"</a:t>
            </a:r>
          </a:p>
          <a:p>
            <a:pPr marL="279400" indent="-279400">
              <a:buClr>
                <a:srgbClr val="0078D4"/>
              </a:buClr>
              <a:buFont typeface="Arial"/>
              <a:buChar char="•"/>
            </a:pPr>
            <a:r>
              <a:rPr sz="2800">
                <a:solidFill>
                  <a:srgbClr val="1B1B1B"/>
                </a:solidFill>
                <a:latin typeface="Segoe UI"/>
              </a:rPr>
              <a:t>"bare" on 4 of 6 photos with no hands at all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8737" y="1465262"/>
            <a:ext cx="5329237" cy="4064000"/>
          </a:xfrm>
          <a:prstGeom prst="roundRect">
            <a:avLst>
              <a:gd name="adj" fmla="val 5000"/>
            </a:avLst>
          </a:prstGeom>
          <a:solidFill>
            <a:srgbClr val="001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789737" y="1846262"/>
            <a:ext cx="4567237" cy="635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>
                <a:solidFill>
                  <a:srgbClr val="0BD0D9"/>
                </a:solidFill>
                <a:latin typeface="Segoe UI Semibold"/>
              </a:rPr>
              <a:t>Asked for a shape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89737" y="2798762"/>
            <a:ext cx="4567237" cy="2349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79400" indent="-279400">
              <a:buClr>
                <a:srgbClr val="0BD0D9"/>
              </a:buClr>
              <a:buFont typeface="Arial"/>
              <a:buChar char="•"/>
            </a:pPr>
            <a:r>
              <a:rPr sz="2800">
                <a:solidFill>
                  <a:srgbClr val="FFFFFF"/>
                </a:solidFill>
                <a:latin typeface="Segoe UI"/>
              </a:rPr>
              <a:t>a list of objects and where each one is</a:t>
            </a:r>
          </a:p>
          <a:p>
            <a:pPr marL="279400" indent="-279400">
              <a:buClr>
                <a:srgbClr val="0BD0D9"/>
              </a:buClr>
              <a:buFont typeface="Arial"/>
              <a:buChar char="•"/>
            </a:pPr>
            <a:r>
              <a:rPr sz="2800">
                <a:solidFill>
                  <a:srgbClr val="FFFFFF"/>
                </a:solidFill>
                <a:latin typeface="Segoe UI"/>
              </a:rPr>
              <a:t>0 false Triggers on 17 photos with no bare hand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docs/fixtures/watch-emit-contract.jsonl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508000" y="1460500"/>
            <a:ext cx="11420475" cy="5080000"/>
          </a:xfrm>
        </p:spPr>
        <p:txBody>
          <a:bodyPr wrap="square"/>
          <a:lstStyle/>
          <a:p>
            <a:r>
              <a:rPr sz="2600">
                <a:solidFill>
                  <a:srgbClr val="1B1B1B"/>
                </a:solidFill>
                <a:latin typeface="Consolas"/>
              </a:rPr>
              <a:t>{"type": "cadence", "cadence": 1,</a:t>
            </a:r>
          </a:p>
          <a:p>
            <a:r>
              <a:rPr sz="2600">
                <a:solidFill>
                  <a:srgbClr val="1B1B1B"/>
                </a:solidFill>
                <a:latin typeface="Consolas"/>
              </a:rPr>
              <a:t> "time": "2026-09-24T10:30:02+02:00",</a:t>
            </a:r>
          </a:p>
          <a:p>
            <a:r>
              <a:rPr sz="2600">
                <a:solidFill>
                  <a:srgbClr val="1B1B1B"/>
                </a:solidFill>
                <a:latin typeface="Consolas"/>
              </a:rPr>
              <a:t> "variant": "qwen3-vl-2b-instruct-cuda-gpu:2",</a:t>
            </a:r>
          </a:p>
          <a:p>
            <a:r>
              <a:rPr sz="2600">
                <a:solidFill>
                  <a:srgbClr val="1B1B1B"/>
                </a:solidFill>
                <a:latin typeface="Consolas"/>
              </a:rPr>
              <a:t> "outcome": "objects",</a:t>
            </a:r>
          </a:p>
          <a:p>
            <a:r>
              <a:rPr sz="2600">
                <a:solidFill>
                  <a:srgbClr val="1B1B1B"/>
                </a:solidFill>
                <a:latin typeface="Consolas"/>
              </a:rPr>
              <a:t> "objects": [</a:t>
            </a:r>
          </a:p>
          <a:p>
            <a:r>
              <a:rPr sz="2600">
                <a:solidFill>
                  <a:srgbClr val="1B1B1B"/>
                </a:solidFill>
                <a:latin typeface="Consolas"/>
              </a:rPr>
              <a:t>   {"name": "soldering iron", "count": 1, "where": "tray"},</a:t>
            </a:r>
          </a:p>
          <a:p>
            <a:r>
              <a:rPr sz="2600">
                <a:solidFill>
                  <a:srgbClr val="1B1B1B"/>
                </a:solidFill>
                <a:latin typeface="Consolas"/>
              </a:rPr>
              <a:t>   {"name": "bare hand", "count": 1, "where": "hand"}],</a:t>
            </a:r>
          </a:p>
          <a:p>
            <a:r>
              <a:rPr sz="2600">
                <a:solidFill>
                  <a:srgbClr val="1B1B1B"/>
                </a:solidFill>
                <a:latin typeface="Consolas"/>
              </a:rPr>
              <a:t> "truncated": false, "shortfall": null}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agent/work-cell.json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508000" y="1460500"/>
            <a:ext cx="11420475" cy="5080000"/>
          </a:xfrm>
        </p:spPr>
        <p:txBody>
          <a:bodyPr wrap="square"/>
          <a:lstStyle/>
          <a:p>
            <a:r>
              <a:rPr sz="2800">
                <a:solidFill>
                  <a:srgbClr val="1B1B1B"/>
                </a:solidFill>
                <a:latin typeface="Consolas"/>
              </a:rPr>
              <a:t>"hands": {</a:t>
            </a:r>
          </a:p>
          <a:p>
            <a:r>
              <a:rPr sz="2800">
                <a:solidFill>
                  <a:srgbClr val="1B1B1B"/>
                </a:solidFill>
                <a:latin typeface="Consolas"/>
              </a:rPr>
              <a:t>  "bare":   ["bare hand"],</a:t>
            </a:r>
          </a:p>
          <a:p>
            <a:r>
              <a:rPr sz="2800">
                <a:solidFill>
                  <a:srgbClr val="1B1B1B"/>
                </a:solidFill>
                <a:latin typeface="Consolas"/>
              </a:rPr>
              <a:t>  "gloved": ["gloved hand", "white glove", "glove"],</a:t>
            </a:r>
          </a:p>
          <a:p>
            <a:r>
              <a:rPr sz="2800">
                <a:solidFill>
                  <a:srgbClr val="1B1B1B"/>
                </a:solidFill>
                <a:latin typeface="Consolas"/>
              </a:rPr>
              <a:t>  "plain":  ["hand"]</a:t>
            </a:r>
          </a:p>
          <a:p>
            <a:r>
              <a:rPr sz="2800">
                <a:solidFill>
                  <a:srgbClr val="1B1B1B"/>
                </a:solidFill>
                <a:latin typeface="Consolas"/>
              </a:rPr>
              <a:t>},</a:t>
            </a:r>
          </a:p>
          <a:p>
            <a:r>
              <a:rPr sz="2800">
                <a:solidFill>
                  <a:srgbClr val="1B1B1B"/>
                </a:solidFill>
                <a:latin typeface="Consolas"/>
              </a:rPr>
              <a:t>"triggers": {</a:t>
            </a:r>
          </a:p>
          <a:p>
            <a:r>
              <a:rPr sz="2800">
                <a:solidFill>
                  <a:srgbClr val="1B1B1B"/>
                </a:solidFill>
                <a:latin typeface="Consolas"/>
              </a:rPr>
              <a:t>  "no_gloves": { "n": 2 }</a:t>
            </a:r>
          </a:p>
          <a:p>
            <a:r>
              <a:rPr sz="2800">
                <a:solidFill>
                  <a:srgbClr val="1B1B1B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279400" y="1651000"/>
            <a:ext cx="11430000" cy="4826000"/>
          </a:xfrm>
        </p:spPr>
        <p:txBody>
          <a:bodyPr/>
          <a:lstStyle/>
          <a:p>
            <a:pPr>
              <a:spcAft>
                <a:spcPts val="1400"/>
              </a:spcAft>
            </a:pPr>
            <a:r>
              <a:rPr sz="3000"/>
              <a:t>its condition holds on N Observations in a row</a:t>
            </a:r>
          </a:p>
          <a:p>
            <a:pPr>
              <a:spcAft>
                <a:spcPts val="1400"/>
              </a:spcAft>
            </a:pPr>
            <a:r>
              <a:rPr sz="3000"/>
              <a:t>it re-arms after N in a row without it</a:t>
            </a:r>
          </a:p>
          <a:p>
            <a:pPr>
              <a:spcAft>
                <a:spcPts val="1400"/>
              </a:spcAft>
            </a:pPr>
            <a:r>
              <a:rPr sz="3000"/>
              <a:t>an Observation with no shape counts neither way</a:t>
            </a:r>
          </a:p>
          <a:p>
            <a:pPr>
              <a:spcAft>
                <a:spcPts val="1400"/>
              </a:spcAft>
            </a:pPr>
            <a:r>
              <a:rPr sz="3000"/>
              <a:t>each firing is one Incident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79400" y="292100"/>
            <a:ext cx="10414000" cy="914400"/>
          </a:xfrm>
        </p:spPr>
        <p:txBody>
          <a:bodyPr/>
          <a:lstStyle/>
          <a:p>
            <a:r>
              <a:t>When a Trigger fires</a:t>
            </a:r>
          </a:p>
        </p:txBody>
      </p:sp>
      <p:sp>
        <p:nvSpPr>
          <p:cNvPr id="4" name="Oval 3"/>
          <p:cNvSpPr/>
          <p:nvPr/>
        </p:nvSpPr>
        <p:spPr>
          <a:xfrm>
            <a:off x="11344275" y="330200"/>
            <a:ext cx="812800" cy="812800"/>
          </a:xfrm>
          <a:prstGeom prst="ellipse">
            <a:avLst/>
          </a:prstGeom>
          <a:solidFill>
            <a:srgbClr val="001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880">
                <a:solidFill>
                  <a:srgbClr val="0BD0D9"/>
                </a:solidFill>
                <a:latin typeface="Segoe MDL2 Assets"/>
              </a:rPr>
              <a:t>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89000" y="1651000"/>
            <a:ext cx="609600" cy="609600"/>
          </a:xfrm>
          <a:prstGeom prst="ellipse">
            <a:avLst/>
          </a:prstGeom>
          <a:solidFill>
            <a:srgbClr val="0BD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160">
                <a:solidFill>
                  <a:srgbClr val="001344"/>
                </a:solidFill>
                <a:latin typeface="Segoe MDL2 Assets"/>
              </a:rPr>
              <a:t>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01800" y="1651000"/>
            <a:ext cx="8890000" cy="609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>
                <a:solidFill>
                  <a:srgbClr val="8FA3BF"/>
                </a:solidFill>
                <a:latin typeface="Segoe UI"/>
              </a:rPr>
              <a:t>What crosses the wire?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9000" y="2667000"/>
            <a:ext cx="10668000" cy="25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200">
                <a:solidFill>
                  <a:srgbClr val="0BD0D9"/>
                </a:solidFill>
                <a:latin typeface="Segoe UI Semibold"/>
              </a:rPr>
              <a:t>One line of JSON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6100" y="2120900"/>
            <a:ext cx="10160000" cy="1181100"/>
          </a:xfrm>
        </p:spPr>
        <p:txBody>
          <a:bodyPr/>
          <a:lstStyle/>
          <a:p>
            <a:r>
              <a:t>The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6100" y="635000"/>
            <a:ext cx="2540000" cy="13970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9600">
                <a:solidFill>
                  <a:srgbClr val="0BD0D9"/>
                </a:solidFill>
                <a:latin typeface="Segoe UI Semibold"/>
              </a:rPr>
              <a:t>6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89000" y="2413000"/>
            <a:ext cx="10668000" cy="16510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4800">
                <a:solidFill>
                  <a:srgbClr val="001344"/>
                </a:solidFill>
                <a:latin typeface="Segoe UI Semibold"/>
              </a:rPr>
              <a:t>I measured it before I promised it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vision on the iGPU, the agent on the CPU, a JSON Lines file between the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237" y="355600"/>
            <a:ext cx="10160000" cy="5715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38237" y="6248400"/>
            <a:ext cx="10160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i="1">
                <a:solidFill>
                  <a:srgbClr val="DBEFF9"/>
                </a:solidFill>
                <a:latin typeface="Segoe UI Light"/>
              </a:rPr>
              <a:t>two processes, two engines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gent Framework over our own IChatClient over Foundry Local 2.0.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237" y="355600"/>
            <a:ext cx="10160000" cy="5715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38237" y="6248400"/>
            <a:ext cx="10160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i="1">
                <a:solidFill>
                  <a:srgbClr val="DBEFF9"/>
                </a:solidFill>
                <a:latin typeface="Segoe UI Light"/>
              </a:rPr>
              <a:t>Agent Framework, on Foundry Local 2.0.1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89000" y="1143000"/>
            <a:ext cx="10668000" cy="27940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14000">
                <a:solidFill>
                  <a:srgbClr val="FFFFFF"/>
                </a:solidFill>
                <a:latin typeface="Segoe UI Semibold"/>
              </a:rPr>
              <a:t>10 of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9800" y="4191000"/>
            <a:ext cx="10160000" cy="177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>
                <a:solidFill>
                  <a:srgbClr val="DBEFF9"/>
                </a:solidFill>
                <a:latin typeface="Segoe UI Light"/>
              </a:rPr>
              <a:t>Incidents where the 1.5B model called both tools, on the CPU. On the GPU and the NPU: 0 of 10.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89000" y="2413000"/>
            <a:ext cx="10668000" cy="16510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4800">
                <a:solidFill>
                  <a:srgbClr val="001344"/>
                </a:solidFill>
                <a:latin typeface="Segoe UI Semibold"/>
              </a:rPr>
              <a:t>No system prompt scored best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Live demo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Gloves off</a:t>
            </a:r>
          </a:p>
        </p:txBody>
      </p:sp>
      <p:sp>
        <p:nvSpPr>
          <p:cNvPr id="4" name="Oval 3"/>
          <p:cNvSpPr/>
          <p:nvPr/>
        </p:nvSpPr>
        <p:spPr>
          <a:xfrm>
            <a:off x="558800" y="1270000"/>
            <a:ext cx="711200" cy="7112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520">
                <a:solidFill>
                  <a:srgbClr val="001344"/>
                </a:solidFill>
                <a:latin typeface="Segoe MDL2 Assets"/>
              </a:rPr>
              <a:t>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279400" y="1651000"/>
            <a:ext cx="11430000" cy="4826000"/>
          </a:xfrm>
        </p:spPr>
        <p:txBody>
          <a:bodyPr/>
          <a:lstStyle/>
          <a:p>
            <a:pPr>
              <a:spcAft>
                <a:spcPts val="1400"/>
              </a:spcAft>
            </a:pPr>
            <a:r>
              <a:rPr sz="2800"/>
              <a:t>the Trigger that fired</a:t>
            </a:r>
          </a:p>
          <a:p>
            <a:pPr>
              <a:spcAft>
                <a:spcPts val="1400"/>
              </a:spcAft>
            </a:pPr>
            <a:r>
              <a:rPr sz="2800"/>
              <a:t>the Observation that fired it</a:t>
            </a:r>
          </a:p>
          <a:p>
            <a:pPr>
              <a:spcAft>
                <a:spcPts val="1400"/>
              </a:spcAft>
            </a:pPr>
            <a:r>
              <a:rPr sz="2800"/>
              <a:t>the model's sentence and the time</a:t>
            </a:r>
          </a:p>
          <a:p>
            <a:pPr>
              <a:spcAft>
                <a:spcPts val="1400"/>
              </a:spcAft>
            </a:pPr>
            <a:r>
              <a:rPr sz="2800"/>
              <a:t>whether the model acted</a:t>
            </a:r>
          </a:p>
          <a:p>
            <a:pPr>
              <a:spcAft>
                <a:spcPts val="1400"/>
              </a:spcAft>
            </a:pPr>
            <a:r>
              <a:rPr sz="2800"/>
              <a:t>never a Frame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79400" y="292100"/>
            <a:ext cx="10414000" cy="914400"/>
          </a:xfrm>
        </p:spPr>
        <p:txBody>
          <a:bodyPr/>
          <a:lstStyle/>
          <a:p>
            <a:r>
              <a:t>The incident log</a:t>
            </a:r>
          </a:p>
        </p:txBody>
      </p:sp>
      <p:sp>
        <p:nvSpPr>
          <p:cNvPr id="4" name="Oval 3"/>
          <p:cNvSpPr/>
          <p:nvPr/>
        </p:nvSpPr>
        <p:spPr>
          <a:xfrm>
            <a:off x="11344275" y="330200"/>
            <a:ext cx="812800" cy="812800"/>
          </a:xfrm>
          <a:prstGeom prst="ellipse">
            <a:avLst/>
          </a:prstGeom>
          <a:solidFill>
            <a:srgbClr val="001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880">
                <a:solidFill>
                  <a:srgbClr val="0BD0D9"/>
                </a:solidFill>
                <a:latin typeface="Segoe MDL2 Assets"/>
              </a:rPr>
              <a:t>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89000" y="1651000"/>
            <a:ext cx="609600" cy="609600"/>
          </a:xfrm>
          <a:prstGeom prst="ellipse">
            <a:avLst/>
          </a:prstGeom>
          <a:solidFill>
            <a:srgbClr val="0BD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160">
                <a:solidFill>
                  <a:srgbClr val="001344"/>
                </a:solidFill>
                <a:latin typeface="Segoe MDL2 Assets"/>
              </a:rPr>
              <a:t>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01800" y="1651000"/>
            <a:ext cx="8890000" cy="609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>
                <a:solidFill>
                  <a:srgbClr val="8FA3BF"/>
                </a:solidFill>
                <a:latin typeface="Segoe UI"/>
              </a:rPr>
              <a:t>What crosses the wire?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9000" y="2667000"/>
            <a:ext cx="10668000" cy="25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200">
                <a:solidFill>
                  <a:srgbClr val="0BD0D9"/>
                </a:solidFill>
                <a:latin typeface="Segoe UI Semibold"/>
              </a:rPr>
              <a:t>Text. The Agent never sees an image.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279400" y="1651000"/>
            <a:ext cx="11430000" cy="4826000"/>
          </a:xfrm>
        </p:spPr>
        <p:txBody>
          <a:bodyPr/>
          <a:lstStyle/>
          <a:p>
            <a:pPr>
              <a:spcAft>
                <a:spcPts val="1400"/>
              </a:spcAft>
            </a:pPr>
            <a:r>
              <a:rPr sz="2600"/>
              <a:t>pin the Variant</a:t>
            </a:r>
          </a:p>
          <a:p>
            <a:pPr>
              <a:spcAft>
                <a:spcPts val="1400"/>
              </a:spcAft>
            </a:pPr>
            <a:r>
              <a:rPr sz="2600"/>
              <a:t>measure the NPU with its own ruler</a:t>
            </a:r>
          </a:p>
          <a:p>
            <a:pPr>
              <a:spcAft>
                <a:spcPts val="1400"/>
              </a:spcAft>
            </a:pPr>
            <a:r>
              <a:rPr sz="2600"/>
              <a:t>the recipe sets the price</a:t>
            </a:r>
          </a:p>
          <a:p>
            <a:pPr>
              <a:spcAft>
                <a:spcPts val="1400"/>
              </a:spcAft>
            </a:pPr>
            <a:r>
              <a:rPr sz="2600"/>
              <a:t>bound every answer</a:t>
            </a:r>
          </a:p>
          <a:p>
            <a:pPr>
              <a:spcAft>
                <a:spcPts val="1400"/>
              </a:spcAft>
            </a:pPr>
            <a:r>
              <a:rPr sz="2600"/>
              <a:t>a Trigger needs a shape, not a question</a:t>
            </a:r>
          </a:p>
          <a:p>
            <a:pPr>
              <a:spcAft>
                <a:spcPts val="1400"/>
              </a:spcAft>
            </a:pPr>
            <a:r>
              <a:rPr sz="2600"/>
              <a:t>the model that sees is not the model that acts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79400" y="292100"/>
            <a:ext cx="10414000" cy="914400"/>
          </a:xfrm>
        </p:spPr>
        <p:txBody>
          <a:bodyPr/>
          <a:lstStyle/>
          <a:p>
            <a:r>
              <a:t>What this laptop taught me</a:t>
            </a:r>
          </a:p>
        </p:txBody>
      </p:sp>
      <p:sp>
        <p:nvSpPr>
          <p:cNvPr id="4" name="Oval 3"/>
          <p:cNvSpPr/>
          <p:nvPr/>
        </p:nvSpPr>
        <p:spPr>
          <a:xfrm>
            <a:off x="11344275" y="330200"/>
            <a:ext cx="812800" cy="812800"/>
          </a:xfrm>
          <a:prstGeom prst="ellipse">
            <a:avLst/>
          </a:prstGeom>
          <a:solidFill>
            <a:srgbClr val="001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880">
                <a:solidFill>
                  <a:srgbClr val="0BD0D9"/>
                </a:solidFill>
                <a:latin typeface="Segoe MDL2 Assets"/>
              </a:rPr>
              <a:t>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6100" y="2120900"/>
            <a:ext cx="10160000" cy="1181100"/>
          </a:xfrm>
        </p:spPr>
        <p:txBody>
          <a:bodyPr/>
          <a:lstStyle/>
          <a:p>
            <a:r>
              <a:t>What stays at the edge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279400" y="1651000"/>
            <a:ext cx="11430000" cy="4826000"/>
          </a:xfrm>
        </p:spPr>
        <p:txBody>
          <a:bodyPr/>
          <a:lstStyle/>
          <a:p>
            <a:pPr>
              <a:spcAft>
                <a:spcPts val="1400"/>
              </a:spcAft>
            </a:pPr>
            <a:r>
              <a:rPr sz="3000"/>
              <a:t>May the image leave the site?</a:t>
            </a:r>
          </a:p>
          <a:p>
            <a:pPr>
              <a:spcAft>
                <a:spcPts val="1400"/>
              </a:spcAft>
            </a:pPr>
            <a:r>
              <a:rPr sz="3000"/>
              <a:t>Is the load continuous?</a:t>
            </a:r>
          </a:p>
          <a:p>
            <a:pPr>
              <a:spcAft>
                <a:spcPts val="1400"/>
              </a:spcAft>
            </a:pPr>
            <a:r>
              <a:rPr sz="3000"/>
              <a:t>Is the network there when the decision is due?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79400" y="292100"/>
            <a:ext cx="10414000" cy="914400"/>
          </a:xfrm>
        </p:spPr>
        <p:txBody>
          <a:bodyPr/>
          <a:lstStyle/>
          <a:p>
            <a:r>
              <a:t>Three questions</a:t>
            </a:r>
          </a:p>
        </p:txBody>
      </p:sp>
      <p:sp>
        <p:nvSpPr>
          <p:cNvPr id="4" name="Oval 3"/>
          <p:cNvSpPr/>
          <p:nvPr/>
        </p:nvSpPr>
        <p:spPr>
          <a:xfrm>
            <a:off x="11344275" y="330200"/>
            <a:ext cx="812800" cy="812800"/>
          </a:xfrm>
          <a:prstGeom prst="ellipse">
            <a:avLst/>
          </a:prstGeom>
          <a:solidFill>
            <a:srgbClr val="001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880">
                <a:solidFill>
                  <a:srgbClr val="0BD0D9"/>
                </a:solidFill>
                <a:latin typeface="Segoe MDL2 Assets"/>
              </a:rPr>
              <a:t>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89000" y="1143000"/>
            <a:ext cx="10668000" cy="27940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14000">
                <a:solidFill>
                  <a:srgbClr val="FFFFFF"/>
                </a:solidFill>
                <a:latin typeface="Segoe UI Semibold"/>
              </a:rPr>
              <a:t>4 cameras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9800" y="4191000"/>
            <a:ext cx="10160000" cy="177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>
                <a:solidFill>
                  <a:srgbClr val="DBEFF9"/>
                </a:solidFill>
                <a:latin typeface="Segoe UI Light"/>
              </a:rPr>
              <a:t>at most, on this laptop's iGPU, with the 2B at one Observation every 10 seconds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279400" y="1651000"/>
            <a:ext cx="11430000" cy="4826000"/>
          </a:xfrm>
        </p:spPr>
        <p:txBody>
          <a:bodyPr/>
          <a:lstStyle/>
          <a:p>
            <a:pPr>
              <a:spcAft>
                <a:spcPts val="1400"/>
              </a:spcAft>
            </a:pPr>
            <a:r>
              <a:rPr sz="3000"/>
              <a:t>the PC already at the station, an edge box, an on-premises server</a:t>
            </a:r>
          </a:p>
          <a:p>
            <a:pPr>
              <a:spcAft>
                <a:spcPts val="1400"/>
              </a:spcAft>
            </a:pPr>
            <a:r>
              <a:rPr sz="3000"/>
              <a:t>at the edge: ~$2.50 per camera per month</a:t>
            </a:r>
          </a:p>
          <a:p>
            <a:pPr>
              <a:spcAft>
                <a:spcPts val="1400"/>
              </a:spcAft>
            </a:pPr>
            <a:r>
              <a:rPr sz="3000"/>
              <a:t>rented cloud GPU: ~$29</a:t>
            </a:r>
          </a:p>
          <a:p>
            <a:pPr>
              <a:spcAft>
                <a:spcPts val="1400"/>
              </a:spcAft>
            </a:pPr>
            <a:r>
              <a:rPr sz="3000"/>
              <a:t>per-minute video API: ~$4,320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79400" y="292100"/>
            <a:ext cx="10414000" cy="914400"/>
          </a:xfrm>
        </p:spPr>
        <p:txBody>
          <a:bodyPr/>
          <a:lstStyle/>
          <a:p>
            <a:r>
              <a:t>Where it runs, and what it costs</a:t>
            </a:r>
          </a:p>
        </p:txBody>
      </p:sp>
      <p:sp>
        <p:nvSpPr>
          <p:cNvPr id="4" name="Oval 3"/>
          <p:cNvSpPr/>
          <p:nvPr/>
        </p:nvSpPr>
        <p:spPr>
          <a:xfrm>
            <a:off x="11344275" y="330200"/>
            <a:ext cx="812800" cy="812800"/>
          </a:xfrm>
          <a:prstGeom prst="ellipse">
            <a:avLst/>
          </a:prstGeom>
          <a:solidFill>
            <a:srgbClr val="001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880">
                <a:solidFill>
                  <a:srgbClr val="0BD0D9"/>
                </a:solidFill>
                <a:latin typeface="Segoe MDL2 Assets"/>
              </a:rPr>
              <a:t>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89000" y="1905000"/>
            <a:ext cx="10668000" cy="16510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4800">
                <a:solidFill>
                  <a:srgbClr val="001344"/>
                </a:solidFill>
                <a:latin typeface="Segoe UI Semibold"/>
              </a:rPr>
              <a:t>The image stays.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000" y="3810000"/>
            <a:ext cx="1066800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>
                <a:solidFill>
                  <a:srgbClr val="0078D4"/>
                </a:solidFill>
                <a:latin typeface="Segoe UI Light"/>
              </a:rPr>
              <a:t>The conclusion may leave.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tations keep their frames and send sentences to a cloud agen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237" y="355600"/>
            <a:ext cx="10160000" cy="5715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38237" y="6248400"/>
            <a:ext cx="10160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i="1">
                <a:solidFill>
                  <a:srgbClr val="DBEFF9"/>
                </a:solidFill>
                <a:latin typeface="Segoe UI Light"/>
              </a:rPr>
              <a:t>the agent you saw at 11:35, fed sentences, never frames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89000" y="1905000"/>
            <a:ext cx="10668000" cy="16510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4400">
                <a:solidFill>
                  <a:srgbClr val="001344"/>
                </a:solidFill>
                <a:latin typeface="Segoe UI Semibold"/>
              </a:rPr>
              <a:t>This is not about switching off the Wi‑Fi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000" y="3810000"/>
            <a:ext cx="1066800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>
                <a:solidFill>
                  <a:srgbClr val="0078D4"/>
                </a:solidFill>
                <a:latin typeface="Segoe UI Light"/>
              </a:rPr>
              <a:t>It is about deciding what leaves the machine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Oval 2"/>
          <p:cNvSpPr/>
          <p:nvPr/>
        </p:nvSpPr>
        <p:spPr>
          <a:xfrm>
            <a:off x="889000" y="1270000"/>
            <a:ext cx="914400" cy="914400"/>
          </a:xfrm>
          <a:prstGeom prst="ellipse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3240">
                <a:solidFill>
                  <a:srgbClr val="001344"/>
                </a:solidFill>
                <a:latin typeface="Segoe MDL2 Assets"/>
              </a:rPr>
              <a:t>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9000" y="2413000"/>
            <a:ext cx="10668000" cy="16510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4400">
                <a:solidFill>
                  <a:srgbClr val="FFFFFF"/>
                </a:solidFill>
                <a:latin typeface="Segoe UI Semibold"/>
              </a:rPr>
              <a:t>Airplane mode has been on the whole time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89000" y="1905000"/>
            <a:ext cx="10668000" cy="16510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4800">
                <a:solidFill>
                  <a:srgbClr val="001344"/>
                </a:solidFill>
                <a:latin typeface="Segoe UI Semibold"/>
              </a:rPr>
              <a:t>What is kept is a sentence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000" y="3810000"/>
            <a:ext cx="1066800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>
                <a:solidFill>
                  <a:srgbClr val="0078D4"/>
                </a:solidFill>
                <a:latin typeface="Segoe UI Light"/>
              </a:rPr>
              <a:t>never a face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89000" y="2413000"/>
            <a:ext cx="7112000" cy="16510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4400">
                <a:solidFill>
                  <a:srgbClr val="FFFFFF"/>
                </a:solidFill>
                <a:latin typeface="Segoe UI Semibold"/>
              </a:rPr>
              <a:t>Clone it. Measure your own machine.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9000" y="4445000"/>
            <a:ext cx="7620000" cy="50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>
                <a:solidFill>
                  <a:srgbClr val="0BD0D9"/>
                </a:solidFill>
                <a:latin typeface="Segoe UI"/>
                <a:hlinkClick r:id="rId3"/>
              </a:rPr>
              <a:t>github.com/emepetres/local-vision-playground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4475" y="2290762"/>
            <a:ext cx="2413000" cy="241300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6100" y="2120900"/>
            <a:ext cx="10160000" cy="1181100"/>
          </a:xfrm>
        </p:spPr>
        <p:txBody>
          <a:bodyPr/>
          <a:lstStyle/>
          <a:p>
            <a:r>
              <a:t>Questions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10C14-2EDA-0488-C854-0EB9B58F0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70959AA8-CA99-2A36-B6A6-2593C09B2AC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302803" y="477653"/>
            <a:ext cx="7830869" cy="603921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665400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MICROSOFT_TRANSLATOR_CLM_PRESENTATIONINFO" val="{&quot;DocumentId&quot;:&quot;5ba8b3c0a6087e730277a1f557cf2505&quot;,&quot;LanguageCode&quot;:&quot;en-US&quot;,&quot;SlideGuids&quot;:[&quot;6691385c-7c95-4ceb-a425-9926cfca71e8&quot;,&quot;de97757c-3c1a-4745-b1ef-335caa05544b&quot;,&quot;e139d5f8-12b1-4a80-8350-a26a2b5910cd&quot;,&quot;ac6c920e-136b-4a5a-a6ef-367b683dbb1b&quot;,&quot;daa0d3d2-2cd5-4e78-bb54-fc11c6db9253&quot;,&quot;46962400-e953-4024-a19e-0444a310dba3&quot;,&quot;06254d6c-a7df-4912-9bb4-31eee273d763&quot;,&quot;1cfe0c2c-a532-4efa-bbda-7cbc34cf675c&quot;,&quot;a3ee077e-defb-4279-9b8b-065b92610f6d&quot;,&quot;ad3a135b-4669-4cc9-a037-e0757e52531e&quot;,&quot;5851a48f-f1b6-410f-b1e4-b44fbd71804a&quot;,&quot;ef144060-6ac8-47d7-874b-14c3701bcc93&quot;,&quot;8dd6f382-bd81-4c6a-9a49-7dc9c4b5c159&quot;,&quot;5009cf6f-1661-414b-a251-6b24c2bb00dc&quot;,&quot;6e689adb-6c53-4961-a536-273ac833240c&quot;,&quot;d3db4a43-6c88-424c-9af7-ef4a3832806b&quot;,&quot;ea46fa14-710a-419a-ac6d-421939cfd643&quot;,&quot;2e735d15-b084-4560-851b-7b31c97d1b12&quot;,&quot;f57b3bdc-652c-4b9e-abd2-3bf01b9fbad9&quot;,&quot;b235f7b9-aeb3-4ab2-bc75-927b59856671&quot;,&quot;6f0813f0-9ae8-42c2-a692-25668e604762&quot;,&quot;1514ae36-a537-46e6-aa24-e9a8dd3135c9&quot;],&quot;TimeStamp&quot;:&quot;2019-03-19T10:27:34.029016-07:00&quot;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MICROSOFT_TRANSLATOR_CLM_SLIDEINFO" val="{&quot;Guid&quot;:&quot;6691385c-7c95-4ceb-a425-9926cfca71e8&quot;,&quot;TimeStamp&quot;:&quot;2019-03-19T10:20:29.235869-07:00&quot;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MICROSOFT_TRANSLATOR_CLM_SLIDEINFO" val="{&quot;Guid&quot;:&quot;6691385c-7c95-4ceb-a425-9926cfca71e8&quot;,&quot;TimeStamp&quot;:&quot;2019-03-19T10:20:29.235869-07:00&quot;}"/>
</p:tagLst>
</file>

<file path=ppt/theme/theme1.xml><?xml version="1.0" encoding="utf-8"?>
<a:theme xmlns:a="http://schemas.openxmlformats.org/drawingml/2006/main" name="Connect_2016_Template_Light">
  <a:themeElements>
    <a:clrScheme name="Custom 1">
      <a:dk1>
        <a:sysClr val="windowText" lastClr="000000"/>
      </a:dk1>
      <a:lt1>
        <a:sysClr val="window" lastClr="FFFFFF"/>
      </a:lt1>
      <a:dk2>
        <a:srgbClr val="001344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Custom 1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defTabSz="932472" fontAlgn="base">
          <a:lnSpc>
            <a:spcPct val="90000"/>
          </a:lnSpc>
          <a:spcBef>
            <a:spcPct val="0"/>
          </a:spcBef>
          <a:spcAft>
            <a:spcPct val="0"/>
          </a:spcAft>
          <a:defRPr sz="24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icrosoft_Connect_2016_STUDIO_SlideTemplate_101116.potx" id="{80CCC0EE-A535-46E1-81E2-2C88D26BF2D9}" vid="{2239D6D4-FF4D-4593-B7F3-45A8D905D389}"/>
    </a:ext>
  </a:extLst>
</a:theme>
</file>

<file path=ppt/theme/theme2.xml><?xml version="1.0" encoding="utf-8"?>
<a:theme xmlns:a="http://schemas.openxmlformats.org/drawingml/2006/main" name="Connect_2016_Template_Dark">
  <a:themeElements>
    <a:clrScheme name="Custom 1">
      <a:dk1>
        <a:srgbClr val="505050"/>
      </a:dk1>
      <a:lt1>
        <a:srgbClr val="FFFFFF"/>
      </a:lt1>
      <a:dk2>
        <a:srgbClr val="0078D7"/>
      </a:dk2>
      <a:lt2>
        <a:srgbClr val="FFFFFF"/>
      </a:lt2>
      <a:accent1>
        <a:srgbClr val="0078D7"/>
      </a:accent1>
      <a:accent2>
        <a:srgbClr val="5C2D91"/>
      </a:accent2>
      <a:accent3>
        <a:srgbClr val="008272"/>
      </a:accent3>
      <a:accent4>
        <a:srgbClr val="D2D2D2"/>
      </a:accent4>
      <a:accent5>
        <a:srgbClr val="00BCF2"/>
      </a:accent5>
      <a:accent6>
        <a:srgbClr val="737373"/>
      </a:accent6>
      <a:hlink>
        <a:srgbClr val="0078D7"/>
      </a:hlink>
      <a:folHlink>
        <a:srgbClr val="0078D7"/>
      </a:folHlink>
    </a:clrScheme>
    <a:fontScheme name="Custom 2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defTabSz="932472" fontAlgn="base">
          <a:lnSpc>
            <a:spcPct val="90000"/>
          </a:lnSpc>
          <a:spcBef>
            <a:spcPct val="0"/>
          </a:spcBef>
          <a:spcAft>
            <a:spcPct val="0"/>
          </a:spcAft>
          <a:defRPr sz="24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icrosoft_Connect_2016_STUDIO_SlideTemplate_101116.potx" id="{80CCC0EE-A535-46E1-81E2-2C88D26BF2D9}" vid="{E2881649-9D4D-4513-9E5E-5A76199B180B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c06d6f96-9f80-47cd-9a61-eb7808785ab7}" enabled="1" method="Standard" siteId="{5c384fed-84cc-44a6-b34a-b060bf102a6e}" contentBits="3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Microsoft_Connect_2016_STUDIO_SlideTemplate_101416</Template>
  <TotalTime>1</TotalTime>
  <Words>4767</Words>
  <Application>Microsoft Office PowerPoint</Application>
  <PresentationFormat>Custom</PresentationFormat>
  <Paragraphs>457</Paragraphs>
  <Slides>69</Slides>
  <Notes>52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69</vt:i4>
      </vt:variant>
    </vt:vector>
  </HeadingPairs>
  <TitlesOfParts>
    <vt:vector size="79" baseType="lpstr">
      <vt:lpstr>Aptos</vt:lpstr>
      <vt:lpstr>Arial</vt:lpstr>
      <vt:lpstr>Consolas</vt:lpstr>
      <vt:lpstr>Segoe MDL2 Assets</vt:lpstr>
      <vt:lpstr>Segoe UI</vt:lpstr>
      <vt:lpstr>Segoe UI Light</vt:lpstr>
      <vt:lpstr>Segoe UI Semibold</vt:lpstr>
      <vt:lpstr>Wingdings</vt:lpstr>
      <vt:lpstr>Connect_2016_Template_Light</vt:lpstr>
      <vt:lpstr>Connect_2016_Template_Dark</vt:lpstr>
      <vt:lpstr>PowerPoint Presentation</vt:lpstr>
      <vt:lpstr>Computer Vision in Airplane Mode</vt:lpstr>
      <vt:lpstr>PowerPoint Presentation</vt:lpstr>
      <vt:lpstr>PowerPoint Presentation</vt:lpstr>
      <vt:lpstr>One look</vt:lpstr>
      <vt:lpstr>README.md</vt:lpstr>
      <vt:lpstr>PowerPoint Presentation</vt:lpstr>
      <vt:lpstr>PowerPoint Presentation</vt:lpstr>
      <vt:lpstr>PowerPoint Presentation</vt:lpstr>
      <vt:lpstr>A workstation on a production line</vt:lpstr>
      <vt:lpstr>Three facts about this plant</vt:lpstr>
      <vt:lpstr>PowerPoint Presentation</vt:lpstr>
      <vt:lpstr>PowerPoint Presentation</vt:lpstr>
      <vt:lpstr>The stack</vt:lpstr>
      <vt:lpstr>The frame</vt:lpstr>
      <vt:lpstr>terminal</vt:lpstr>
      <vt:lpstr>Foundry Local 2.0, in-process</vt:lpstr>
      <vt:lpstr>PowerPoint Presentation</vt:lpstr>
      <vt:lpstr>The question</vt:lpstr>
      <vt:lpstr>Ask the watch</vt:lpstr>
      <vt:lpstr>PowerPoint Presentation</vt:lpstr>
      <vt:lpstr>PowerPoint Presentation</vt:lpstr>
      <vt:lpstr>PowerPoint Presentation</vt:lpstr>
      <vt:lpstr>The model</vt:lpstr>
      <vt:lpstr>What the catalogue offers this laptop</vt:lpstr>
      <vt:lpstr>vision/tools/convert/convert.py</vt:lpstr>
      <vt:lpstr>PowerPoint Presentation</vt:lpstr>
      <vt:lpstr>PowerPoint Presentation</vt:lpstr>
      <vt:lpstr>PowerPoint Presentation</vt:lpstr>
      <vt:lpstr>Quantising better</vt:lpstr>
      <vt:lpstr>PowerPoint Presentation</vt:lpstr>
      <vt:lpstr>The hardware</vt:lpstr>
      <vt:lpstr>terminal</vt:lpstr>
      <vt:lpstr>Same image, same prompt, tokens per second</vt:lpstr>
      <vt:lpstr>PowerPoint Presentation</vt:lpstr>
      <vt:lpstr>PowerPoint Presentation</vt:lpstr>
      <vt:lpstr>What the NPU showed on this laptop</vt:lpstr>
      <vt:lpstr>PowerPoint Presentation</vt:lpstr>
      <vt:lpstr>PowerPoint Presentation</vt:lpstr>
      <vt:lpstr>The seam</vt:lpstr>
      <vt:lpstr>PowerPoint Presentation</vt:lpstr>
      <vt:lpstr>vision/src/vision/inference.py</vt:lpstr>
      <vt:lpstr>PowerPoint Presentation</vt:lpstr>
      <vt:lpstr>docs/fixtures/watch-emit-contract.jsonl</vt:lpstr>
      <vt:lpstr>agent/work-cell.json</vt:lpstr>
      <vt:lpstr>When a Trigger fires</vt:lpstr>
      <vt:lpstr>PowerPoint Presentation</vt:lpstr>
      <vt:lpstr>The action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Gloves off</vt:lpstr>
      <vt:lpstr>The incident log</vt:lpstr>
      <vt:lpstr>PowerPoint Presentation</vt:lpstr>
      <vt:lpstr>What this laptop taught me</vt:lpstr>
      <vt:lpstr>What stays at the edge</vt:lpstr>
      <vt:lpstr>Three questions</vt:lpstr>
      <vt:lpstr>PowerPoint Presentation</vt:lpstr>
      <vt:lpstr>Where it runs, and what it costs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Questions</vt:lpstr>
      <vt:lpstr>PowerPoint Presentation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Global Azure 2021</dc:title>
  <dc:subject/>
  <dc:creator>David J. Rodríguez Hernández</dc:creator>
  <cp:keywords/>
  <dc:description/>
  <cp:lastModifiedBy>Javier Carnero</cp:lastModifiedBy>
  <cp:revision>10</cp:revision>
  <dcterms:created xsi:type="dcterms:W3CDTF">2016-11-15T00:28:08Z</dcterms:created>
  <dcterms:modified xsi:type="dcterms:W3CDTF">2026-09-25T18:05:07Z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HeaderLocations">
    <vt:lpwstr>Connect_2016_Template_Light:6\Connect_2016_Template_Dark:5</vt:lpwstr>
  </property>
  <property fmtid="{D5CDD505-2E9C-101B-9397-08002B2CF9AE}" pid="3" name="ClassificationContentMarkingHeaderText">
    <vt:lpwstr>General</vt:lpwstr>
  </property>
</Properties>
</file>